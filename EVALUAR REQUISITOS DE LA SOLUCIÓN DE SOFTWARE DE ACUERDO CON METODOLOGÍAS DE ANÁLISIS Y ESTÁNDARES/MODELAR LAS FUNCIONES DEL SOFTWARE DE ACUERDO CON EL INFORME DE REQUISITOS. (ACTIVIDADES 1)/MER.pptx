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  <p:sldId id="275" r:id="rId20"/>
    <p:sldId id="277" r:id="rId21"/>
    <p:sldId id="278" r:id="rId22"/>
    <p:sldId id="279" r:id="rId23"/>
    <p:sldId id="281" r:id="rId24"/>
    <p:sldId id="280" r:id="rId25"/>
    <p:sldId id="276" r:id="rId26"/>
    <p:sldId id="284" r:id="rId27"/>
    <p:sldId id="283" r:id="rId28"/>
    <p:sldId id="282" r:id="rId29"/>
    <p:sldId id="285" r:id="rId30"/>
    <p:sldId id="286" r:id="rId31"/>
    <p:sldId id="287" r:id="rId32"/>
    <p:sldId id="288" r:id="rId3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69" d="100"/>
          <a:sy n="69" d="100"/>
        </p:scale>
        <p:origin x="6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D3B3C7E-BC2D-4436-8B03-AC421FA66787}"/>
              </a:ext>
            </a:extLst>
          </p:cNvPr>
          <p:cNvSpPr/>
          <p:nvPr/>
        </p:nvSpPr>
        <p:spPr>
          <a:xfrm>
            <a:off x="160920" y="157606"/>
            <a:ext cx="11870161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66887E-4265-46F7-9DE0-605FFFC9076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5130" y="1066800"/>
            <a:ext cx="8112369" cy="207311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800" cap="all" spc="39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DB1A74-54F5-45CA-8922-87FFD5751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75804" y="4876802"/>
            <a:ext cx="7821637" cy="102869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6BE6EF-9D0F-4ABF-B92C-E967FE3F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AB150-954C-4F02-89AC-DA7163D7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965" y="6245352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16270-CBD7-4ACC-BFC5-9CADE722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9B5D0C1-066E-4C02-A6B8-59FAE4A19724}"/>
              </a:ext>
            </a:extLst>
          </p:cNvPr>
          <p:cNvGrpSpPr/>
          <p:nvPr/>
        </p:nvGrpSpPr>
        <p:grpSpPr>
          <a:xfrm>
            <a:off x="5662258" y="4240546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4386904-AFDC-449E-8D1B-906B305EBDA7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0778F2-11E8-428C-8324-479CA9D6FE92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A0BE89E-CB2D-48BA-A8D2-533FAAAA725F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9511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DC87-4B97-4A7C-BC4C-6E772456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59FD9-57FD-4ABA-9FCD-7954052534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BD40E-B0AA-47B8-900F-488A8AEC1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E623C-1E35-4485-A5B4-A71969BE7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C6BB9-EF4F-465E-985B-34521F68C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729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5577-D71B-4279-B07A-62F703E5D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8367D-C35C-4023-BEBE-F834D033B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FCF8A-B8C6-496A-98A5-BBB52DB70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CDE45C10-227D-42DF-A888-EEFD3784FA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900" y="750338"/>
            <a:ext cx="4580642" cy="549469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214944-8898-48BC-AE6F-065DA7BBB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80478" y="4714704"/>
            <a:ext cx="867485" cy="115439"/>
            <a:chOff x="8910933" y="1861308"/>
            <a:chExt cx="867485" cy="11543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94B3AAB-30C4-441D-B481-D253F8325953}"/>
                </a:ext>
              </a:extLst>
            </p:cNvPr>
            <p:cNvSpPr/>
            <p:nvPr/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DCB6176-5585-40BC-BC9C-CA625F989F1B}"/>
                </a:ext>
              </a:extLst>
            </p:cNvPr>
            <p:cNvCxnSpPr/>
            <p:nvPr/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7C4F1D9-97D8-43DD-A319-C56367F97FCE}"/>
                </a:ext>
              </a:extLst>
            </p:cNvPr>
            <p:cNvCxnSpPr/>
            <p:nvPr/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5E64ED-B373-4866-B5A2-E805D316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291" y="1274475"/>
            <a:ext cx="3761832" cy="2823913"/>
          </a:xfrm>
        </p:spPr>
        <p:txBody>
          <a:bodyPr anchor="b">
            <a:normAutofit/>
          </a:bodyPr>
          <a:lstStyle>
            <a:lvl1pPr algn="ctr">
              <a:defRPr sz="3200" cap="all" spc="6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D6168-DDAE-41B2-A0D5-42185A2D02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6756" y="2730304"/>
            <a:ext cx="4383030" cy="13973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7565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25EB-71EE-41B3-89D2-47A0C7C35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62F7D-C4AD-4BD4-AAC8-F0223EE4A3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7305" y="2155369"/>
            <a:ext cx="4953000" cy="399832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FB088-28C6-4667-8DF2-0DE32AE3E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55369"/>
            <a:ext cx="4953000" cy="3998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6095F-AE34-4E94-B722-E3A1205AE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06A8E6-BD94-48EA-8F35-DA0DF910A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478AEF-56B8-49F5-81E8-663B1FFA0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08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F873F-001F-4254-97F3-05329E6A7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555171"/>
            <a:ext cx="10134600" cy="11355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B575-060F-4296-A28A-93DA109F9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7306" y="1801620"/>
            <a:ext cx="4849036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81A51-F4D1-4A02-9918-C416F820B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7306" y="2619103"/>
            <a:ext cx="4849036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2916D0-3DFE-455D-9888-3FDEFD3DE0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108" y="1801620"/>
            <a:ext cx="4904585" cy="814387"/>
          </a:xfrm>
        </p:spPr>
        <p:txBody>
          <a:bodyPr anchor="b">
            <a:normAutofit/>
          </a:bodyPr>
          <a:lstStyle>
            <a:lvl1pPr marL="0" indent="0">
              <a:buNone/>
              <a:defRPr sz="18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93D763-0643-4A48-8007-93391C59F6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108" y="2619103"/>
            <a:ext cx="4904585" cy="3514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2D07B-3A5D-41C2-83B8-BD1AD6522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2C1367-FE5A-4CDD-B85B-724FFFE5B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2F244-23EB-4E1A-B74F-77F23F879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84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6C0A-BEF4-4DE4-A9D2-C60298FC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67C0AC-3C98-4D68-AE72-CFFA1638C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A7722A-E2E4-45D2-8A20-4853ED68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B9201-B20B-4412-B745-F2F6A914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840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C4889A-9ABE-4409-BAD8-F84C36C1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DA5A70-FE21-4CB6-A67B-1DC798E9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84AD11-7FD2-432C-A6AB-395BE9275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13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97CF-9CDD-4E78-8F35-A2FFE7867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94BFE-7A85-4123-B0F7-4DB1C141CE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6800"/>
            <a:ext cx="6172200" cy="483869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1EFD6D-1929-4A73-A860-22A36FF5C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B399A5-94A1-4452-AFF0-918BDA8B1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9589D8-DD83-406C-A77A-176D23993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46024-82ED-40EF-8846-F6CC44BC5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420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D12FA-83A4-42AF-98D7-312C4C5A7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57200"/>
            <a:ext cx="370522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CF1DC8-2932-4C6E-BFBB-8BA1C95984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5942012" cy="48387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E0000-EF01-46A5-8A71-25FB7EA3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1AD40B-9246-4532-9F73-5BA9061C3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E6B9A0-5B1C-4F7B-828A-EF74E5147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E99FB-C932-4165-A612-8B302D8F7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77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B1126-542A-43AD-8078-EE3565165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A5F98B-5F32-4561-BFBC-9F6E5DA0A3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28700" y="2161903"/>
            <a:ext cx="10134600" cy="3743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3D0DD-B04E-4E48-8EE1-51E46131A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1352D-F9C0-4442-9601-A09A7655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C0801-9C45-40AE-AB33-5742CDA4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6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46561-59BF-4566-AD2C-9B05C4771D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6250" y="723899"/>
            <a:ext cx="2271849" cy="5410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F7870-6CBD-47E2-854C-68141BAA1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8302534" cy="54102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FAF3-C106-49CB-A845-1FC7F7313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D5CCC-00E8-48FA-91A6-921E7B64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E1751-E7AA-406D-A977-1ACEF1FBD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885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E7638-D991-46E7-BF2C-67D1AC829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723900"/>
            <a:ext cx="10134600" cy="12884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C6B9C-4923-4DAB-9748-D5CD289EB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161903"/>
            <a:ext cx="10134600" cy="3969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78CF6-4B33-40E4-B881-5F4C56837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4765" y="6245032"/>
            <a:ext cx="5244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fld id="{19590046-DA73-4BBF-84B5-C08E6F75191A}" type="slidenum">
              <a:rPr lang="en-US" smtClean="0"/>
              <a:t>‹Nº›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E857E-F564-4539-9984-10435B614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841" y="6245032"/>
            <a:ext cx="26593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/>
                </a:solidFill>
              </a:defRPr>
            </a:lvl1pPr>
          </a:lstStyle>
          <a:p>
            <a:fld id="{C485584D-7D79-4248-9986-4CA35242F94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ABEF-B998-4B11-A878-8F492F8E39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279964" y="6245033"/>
            <a:ext cx="4112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EB54D17-3792-403D-9127-495845021D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60920 w 12192000"/>
              <a:gd name="connsiteY0" fmla="*/ 157606 h 6858000"/>
              <a:gd name="connsiteX1" fmla="*/ 160920 w 12192000"/>
              <a:gd name="connsiteY1" fmla="*/ 6700394 h 6858000"/>
              <a:gd name="connsiteX2" fmla="*/ 12031081 w 12192000"/>
              <a:gd name="connsiteY2" fmla="*/ 6700394 h 6858000"/>
              <a:gd name="connsiteX3" fmla="*/ 12031081 w 12192000"/>
              <a:gd name="connsiteY3" fmla="*/ 157606 h 6858000"/>
              <a:gd name="connsiteX4" fmla="*/ 0 w 12192000"/>
              <a:gd name="connsiteY4" fmla="*/ 0 h 6858000"/>
              <a:gd name="connsiteX5" fmla="*/ 12192000 w 12192000"/>
              <a:gd name="connsiteY5" fmla="*/ 0 h 6858000"/>
              <a:gd name="connsiteX6" fmla="*/ 12192000 w 12192000"/>
              <a:gd name="connsiteY6" fmla="*/ 6858000 h 6858000"/>
              <a:gd name="connsiteX7" fmla="*/ 0 w 12192000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8000">
                <a:moveTo>
                  <a:pt x="160920" y="157606"/>
                </a:moveTo>
                <a:lnTo>
                  <a:pt x="160920" y="6700394"/>
                </a:lnTo>
                <a:lnTo>
                  <a:pt x="12031081" y="6700394"/>
                </a:lnTo>
                <a:lnTo>
                  <a:pt x="12031081" y="15760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539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kern="120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Tx/>
        <a:buNone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-228600" algn="l" defTabSz="914400" rtl="0" eaLnBrk="1" latinLnBrk="0" hangingPunct="1">
        <a:lnSpc>
          <a:spcPct val="11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4864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54864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youtu.be/TbrzqiOz5aM?si=3rmtbFfhEA_4sgq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youtu.be/TbrzqiOz5aM?si=3rmtbFfhEA_4sgq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oolify.ai/es/ai-news-es/explicacin-de-la-cardinalidad-de-bases-de-datos-en-12-minutos-2407368" TargetMode="External"/><Relationship Id="rId3" Type="http://schemas.openxmlformats.org/officeDocument/2006/relationships/hyperlink" Target="https://www.graficamazzini.com.ar/notacion-grafica-del-modelo-entidad-relacion/" TargetMode="External"/><Relationship Id="rId7" Type="http://schemas.openxmlformats.org/officeDocument/2006/relationships/hyperlink" Target="https://1library.co/article/introducci%C3%B3n-a-los-diagramas-de-entidad-relaci%C3%B3n.zlvdgd6y" TargetMode="External"/><Relationship Id="rId2" Type="http://schemas.openxmlformats.org/officeDocument/2006/relationships/hyperlink" Target="https://www.lemoncode.tv/curso/draw-io-diagramas-base-de-datos/leccion/che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orgesanchez.net/manuales/gbd/diseno-logico-relacional.html#google_vignette" TargetMode="External"/><Relationship Id="rId5" Type="http://schemas.openxmlformats.org/officeDocument/2006/relationships/hyperlink" Target="https://www.mymap.ai/es/template/erd-crows-foot" TargetMode="External"/><Relationship Id="rId4" Type="http://schemas.openxmlformats.org/officeDocument/2006/relationships/hyperlink" Target="https://support.microsoft.com/es-es/topic/crear-un-diagrama-con-notaci%C3%B3n-de-base-de-datos-de-pata-de-gallo-1ec22af9-3bd3-4354-b2b5-ed5752af676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4905C695-F54E-4EF8-8AEF-811D460E7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485CD2A3-2099-476E-9A85-55DC735FA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159026"/>
            <a:ext cx="5938866" cy="65427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66F361-18F9-3145-9E40-4C2A1CEC5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9295" y="1066801"/>
            <a:ext cx="4612277" cy="2077328"/>
          </a:xfrm>
        </p:spPr>
        <p:txBody>
          <a:bodyPr>
            <a:normAutofit/>
          </a:bodyPr>
          <a:lstStyle/>
          <a:p>
            <a:r>
              <a:rPr lang="es-CO" b="1" dirty="0"/>
              <a:t>Modelo Entidad-Relación</a:t>
            </a:r>
            <a:br>
              <a:rPr lang="es-CO" b="1" dirty="0"/>
            </a:b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860A14-30E4-E11A-F138-3097828F0B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4896" y="4876803"/>
            <a:ext cx="4241074" cy="1233323"/>
          </a:xfrm>
        </p:spPr>
        <p:txBody>
          <a:bodyPr anchor="t">
            <a:normAutofit lnSpcReduction="10000"/>
          </a:bodyPr>
          <a:lstStyle/>
          <a:p>
            <a:r>
              <a:rPr lang="es-MX" dirty="0"/>
              <a:t>Instructora Isaura Suarez</a:t>
            </a:r>
          </a:p>
          <a:p>
            <a:r>
              <a:rPr lang="es-MX" dirty="0"/>
              <a:t>Análisis y Desarrollo de software</a:t>
            </a:r>
          </a:p>
          <a:p>
            <a:r>
              <a:rPr lang="es-MX" dirty="0"/>
              <a:t>2025</a:t>
            </a:r>
            <a:endParaRPr lang="es-CO" dirty="0"/>
          </a:p>
        </p:txBody>
      </p:sp>
      <p:pic>
        <p:nvPicPr>
          <p:cNvPr id="19" name="Picture 3" descr="Fondo vectorial de salpicaduras de colores brillantes">
            <a:extLst>
              <a:ext uri="{FF2B5EF4-FFF2-40B4-BE49-F238E27FC236}">
                <a16:creationId xmlns:a16="http://schemas.microsoft.com/office/drawing/2014/main" id="{E25628D4-3D41-BCB5-51F7-9A1B16DA8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72" r="14942" b="-1"/>
          <a:stretch>
            <a:fillRect/>
          </a:stretch>
        </p:blipFill>
        <p:spPr>
          <a:xfrm>
            <a:off x="20" y="10"/>
            <a:ext cx="5938847" cy="6857990"/>
          </a:xfrm>
          <a:prstGeom prst="rect">
            <a:avLst/>
          </a:prstGeom>
        </p:spPr>
      </p:pic>
      <p:grpSp>
        <p:nvGrpSpPr>
          <p:cNvPr id="20" name="Group 12">
            <a:extLst>
              <a:ext uri="{FF2B5EF4-FFF2-40B4-BE49-F238E27FC236}">
                <a16:creationId xmlns:a16="http://schemas.microsoft.com/office/drawing/2014/main" id="{E92979E8-2E86-433E-A7E4-5F102E45A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631691" y="4237480"/>
            <a:ext cx="867485" cy="115439"/>
            <a:chOff x="8910933" y="1861308"/>
            <a:chExt cx="867485" cy="1154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DDEF0D5-EF9F-43D4-BF40-27A3121E0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1438B34-2B34-4614-B3B4-D09927150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C691BDB-93D3-4721-903C-45DD9590F1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933608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7">
            <a:extLst>
              <a:ext uri="{FF2B5EF4-FFF2-40B4-BE49-F238E27FC236}">
                <a16:creationId xmlns:a16="http://schemas.microsoft.com/office/drawing/2014/main" id="{7B4854C3-58CC-4A2C-B4CA-926819F0C2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7B6FD5C0-E257-4B9E-9413-27A374F07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17081" cy="6858000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FA7B9933-15AE-4ACB-B091-21C9F3853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9240" y="1028700"/>
            <a:ext cx="4038600" cy="484107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58886 w 6096000"/>
              <a:gd name="connsiteY3" fmla="*/ 6858000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3037115 w 6096000"/>
              <a:gd name="connsiteY3" fmla="*/ 5889172 h 6858000"/>
              <a:gd name="connsiteX4" fmla="*/ 0 w 6096000"/>
              <a:gd name="connsiteY4" fmla="*/ 6858000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3037115" y="588917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E57BB50-0A5D-4AD7-87AB-5904B788B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624798" y="4550150"/>
            <a:ext cx="867485" cy="115439"/>
            <a:chOff x="8910933" y="1861308"/>
            <a:chExt cx="867485" cy="1154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D5E7CE-8430-4ED8-87F2-AF5C660CF2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64825" flipH="1">
              <a:off x="9286956" y="1861308"/>
              <a:ext cx="115439" cy="115439"/>
            </a:xfrm>
            <a:prstGeom prst="rect">
              <a:avLst/>
            </a:prstGeom>
            <a:noFill/>
            <a:ln w="15875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D4A1AC28-5B9C-4D41-95E9-675EDF3F4B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426289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5E446F29-8D76-46EF-B0AF-41066F65A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910933" y="1919027"/>
              <a:ext cx="352129" cy="0"/>
            </a:xfrm>
            <a:prstGeom prst="line">
              <a:avLst/>
            </a:prstGeom>
            <a:ln w="1587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AFEC89D6-E112-5E57-3902-7920F326A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858" y="1351429"/>
            <a:ext cx="3369365" cy="2871320"/>
          </a:xfrm>
        </p:spPr>
        <p:txBody>
          <a:bodyPr anchor="ctr">
            <a:normAutofit/>
          </a:bodyPr>
          <a:lstStyle/>
          <a:p>
            <a:pPr algn="ctr"/>
            <a:r>
              <a:rPr lang="es-MX" dirty="0" err="1"/>
              <a:t>Definicion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48F17-2DBA-DFEA-D4EA-8383A630C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4988" y="865954"/>
            <a:ext cx="4306928" cy="5131235"/>
          </a:xfrm>
        </p:spPr>
        <p:txBody>
          <a:bodyPr anchor="ctr">
            <a:normAutofit/>
          </a:bodyPr>
          <a:lstStyle/>
          <a:p>
            <a:pPr algn="ctr"/>
            <a:r>
              <a:rPr lang="es-MX" dirty="0"/>
              <a:t>herramienta conceptual para el diseño de bases de datos que representa la estructura lógica de los datos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14969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39128-C0B9-263A-75CF-0A5CC3C16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43231"/>
            <a:ext cx="10134600" cy="567047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Componentes del MER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20075C-6985-1EB0-CDCF-87BB1A00B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5"/>
            <a:ext cx="10134600" cy="5389272"/>
          </a:xfrm>
        </p:spPr>
        <p:txBody>
          <a:bodyPr>
            <a:normAutofit/>
          </a:bodyPr>
          <a:lstStyle/>
          <a:p>
            <a:r>
              <a:rPr lang="es-CO" b="1" dirty="0"/>
              <a:t>1. Entidades:</a:t>
            </a:r>
          </a:p>
          <a:p>
            <a:r>
              <a:rPr lang="es-MX" dirty="0"/>
              <a:t>Representan objetos del mundo real con existencia independiente</a:t>
            </a:r>
          </a:p>
          <a:p>
            <a:r>
              <a:rPr lang="es-MX" dirty="0"/>
              <a:t>Ejemplos: Cliente, Producto, Factura, Empleado</a:t>
            </a:r>
          </a:p>
          <a:p>
            <a:endParaRPr lang="es-CO" b="1" dirty="0"/>
          </a:p>
          <a:p>
            <a:r>
              <a:rPr lang="es-CO" b="1" dirty="0"/>
              <a:t>2. Atributos</a:t>
            </a:r>
          </a:p>
          <a:p>
            <a:r>
              <a:rPr lang="es-CO" dirty="0"/>
              <a:t>Características o propiedades de las entidades</a:t>
            </a:r>
          </a:p>
          <a:p>
            <a:r>
              <a:rPr lang="es-MX" b="1" dirty="0"/>
              <a:t>Tipos:</a:t>
            </a:r>
            <a:endParaRPr lang="es-MX" dirty="0"/>
          </a:p>
          <a:p>
            <a:pPr lvl="1"/>
            <a:r>
              <a:rPr lang="es-MX" b="1" dirty="0"/>
              <a:t>Simples:</a:t>
            </a:r>
            <a:r>
              <a:rPr lang="es-MX" dirty="0"/>
              <a:t> No divisibles (ej. nombre, edad)</a:t>
            </a:r>
          </a:p>
          <a:p>
            <a:pPr lvl="1"/>
            <a:r>
              <a:rPr lang="es-MX" b="1" dirty="0"/>
              <a:t>Compuestos:</a:t>
            </a:r>
            <a:r>
              <a:rPr lang="es-MX" dirty="0"/>
              <a:t> Formados por otros atributos (ej. dirección → calle, ciudad, código postal)</a:t>
            </a:r>
          </a:p>
          <a:p>
            <a:pPr lvl="1"/>
            <a:r>
              <a:rPr lang="es-MX" b="1" dirty="0" err="1"/>
              <a:t>Monovalorados</a:t>
            </a:r>
            <a:r>
              <a:rPr lang="es-MX" b="1" dirty="0"/>
              <a:t>:</a:t>
            </a:r>
            <a:r>
              <a:rPr lang="es-MX" dirty="0"/>
              <a:t> Un solo valor por entidad</a:t>
            </a:r>
          </a:p>
          <a:p>
            <a:pPr lvl="1"/>
            <a:r>
              <a:rPr lang="es-MX" b="1" dirty="0" err="1"/>
              <a:t>Multivalorados</a:t>
            </a:r>
            <a:r>
              <a:rPr lang="es-MX" b="1" dirty="0"/>
              <a:t>:</a:t>
            </a:r>
            <a:r>
              <a:rPr lang="es-MX" dirty="0"/>
              <a:t> Múltiples valores (ej. teléfonos de contacto)</a:t>
            </a:r>
          </a:p>
          <a:p>
            <a:pPr lvl="1"/>
            <a:r>
              <a:rPr lang="es-MX" b="1" dirty="0"/>
              <a:t>Derivados:</a:t>
            </a:r>
            <a:r>
              <a:rPr lang="es-MX" dirty="0"/>
              <a:t> Se calculan de otros atributos (ej. edad a partir de </a:t>
            </a:r>
            <a:r>
              <a:rPr lang="es-MX" dirty="0" err="1"/>
              <a:t>fecha_nacimiento</a:t>
            </a:r>
            <a:r>
              <a:rPr lang="es-MX" dirty="0"/>
              <a:t>)</a:t>
            </a:r>
          </a:p>
          <a:p>
            <a:endParaRPr lang="es-CO" b="1" dirty="0"/>
          </a:p>
          <a:p>
            <a:endParaRPr lang="es-CO" b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70306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E06BE5-2423-DB11-89DC-84212F18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712" y="421109"/>
            <a:ext cx="10134600" cy="611292"/>
          </a:xfrm>
        </p:spPr>
        <p:txBody>
          <a:bodyPr/>
          <a:lstStyle/>
          <a:p>
            <a:r>
              <a:rPr lang="es-CO" b="1" dirty="0"/>
              <a:t>Componentes del MER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4E1199-43C7-E25A-F7C5-CF8F4A529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0712" y="1032401"/>
            <a:ext cx="4546191" cy="5404490"/>
          </a:xfrm>
        </p:spPr>
        <p:txBody>
          <a:bodyPr>
            <a:normAutofit/>
          </a:bodyPr>
          <a:lstStyle/>
          <a:p>
            <a:r>
              <a:rPr lang="es-MX" b="1" dirty="0"/>
              <a:t>3. Relaciones/Asociaciones</a:t>
            </a:r>
          </a:p>
          <a:p>
            <a:r>
              <a:rPr lang="es-MX" dirty="0"/>
              <a:t>Conexiones entre entidades</a:t>
            </a:r>
          </a:p>
          <a:p>
            <a:r>
              <a:rPr lang="es-MX" b="1" dirty="0"/>
              <a:t>Grado de la relación:</a:t>
            </a:r>
            <a:r>
              <a:rPr lang="es-MX" dirty="0"/>
              <a:t> Número de entidades participantes</a:t>
            </a:r>
          </a:p>
          <a:p>
            <a:r>
              <a:rPr lang="es-MX" b="1" dirty="0"/>
              <a:t>Cardinalidad:</a:t>
            </a:r>
            <a:r>
              <a:rPr lang="es-MX" dirty="0"/>
              <a:t> Cuantifica cómo se relacionan las entidades</a:t>
            </a:r>
          </a:p>
          <a:p>
            <a:endParaRPr lang="es-MX" dirty="0"/>
          </a:p>
          <a:p>
            <a:endParaRPr lang="es-MX" dirty="0"/>
          </a:p>
          <a:p>
            <a:br>
              <a:rPr lang="es-MX" dirty="0"/>
            </a:b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4531564-713D-60E1-8217-96D28825ECC5}"/>
              </a:ext>
            </a:extLst>
          </p:cNvPr>
          <p:cNvSpPr txBox="1">
            <a:spLocks/>
          </p:cNvSpPr>
          <p:nvPr/>
        </p:nvSpPr>
        <p:spPr>
          <a:xfrm>
            <a:off x="5899355" y="943925"/>
            <a:ext cx="5855109" cy="540449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b="1" dirty="0"/>
              <a:t>REGLAS DE ASOCIACIONES - CARDINALIDAD</a:t>
            </a:r>
          </a:p>
          <a:p>
            <a:r>
              <a:rPr lang="es-MX" b="1" dirty="0"/>
              <a:t>Tipos de Cardinalidad:</a:t>
            </a:r>
          </a:p>
          <a:p>
            <a:r>
              <a:rPr lang="es-MX" b="1" dirty="0"/>
              <a:t>1. Uno a Uno (1:1)</a:t>
            </a:r>
          </a:p>
          <a:p>
            <a:r>
              <a:rPr lang="es-MX" dirty="0"/>
              <a:t>Una instancia de A se relaciona con UNA instancia de B</a:t>
            </a:r>
          </a:p>
          <a:p>
            <a:r>
              <a:rPr lang="es-MX" b="1" dirty="0"/>
              <a:t>Ejemplo:</a:t>
            </a:r>
            <a:r>
              <a:rPr lang="es-MX" dirty="0"/>
              <a:t> EMPLEADO (1) --- TIENE --- (1) DESPACHO</a:t>
            </a:r>
          </a:p>
          <a:p>
            <a:r>
              <a:rPr lang="es-MX" b="1" dirty="0"/>
              <a:t>Regla:</a:t>
            </a:r>
            <a:r>
              <a:rPr lang="es-MX" dirty="0"/>
              <a:t> La clave primaria de una tabla se convierte en clave foránea en la otra</a:t>
            </a:r>
          </a:p>
          <a:p>
            <a:r>
              <a:rPr lang="es-MX" b="1" dirty="0"/>
              <a:t>2. Uno a Muchos (1:N)</a:t>
            </a:r>
          </a:p>
          <a:p>
            <a:r>
              <a:rPr lang="es-MX" dirty="0"/>
              <a:t>Una instancia de A se relaciona con MÚLTIPLES instancias de B</a:t>
            </a:r>
          </a:p>
          <a:p>
            <a:r>
              <a:rPr lang="es-MX" b="1" dirty="0"/>
              <a:t>Ejemplo:</a:t>
            </a:r>
            <a:r>
              <a:rPr lang="es-MX" dirty="0"/>
              <a:t> DEPARTAMENTO (1) --- TIENE --- (N) EMPLEADOS</a:t>
            </a:r>
          </a:p>
          <a:p>
            <a:r>
              <a:rPr lang="es-MX" b="1" dirty="0"/>
              <a:t>Regla:</a:t>
            </a:r>
            <a:r>
              <a:rPr lang="es-MX" dirty="0"/>
              <a:t> La clave primaria del "uno" se convierte en clave foránea del "muchos"</a:t>
            </a:r>
          </a:p>
          <a:p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21775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C72248-6C51-30F6-CF0C-EAD9D092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368709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REGLAS DE ASOCIACIONES - CARDINALIDAD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5C423F-99FA-E7E0-93D5-DD1F19596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11529"/>
            <a:ext cx="10134600" cy="3969342"/>
          </a:xfrm>
        </p:spPr>
        <p:txBody>
          <a:bodyPr/>
          <a:lstStyle/>
          <a:p>
            <a:r>
              <a:rPr lang="es-MX" b="1" dirty="0"/>
              <a:t>3. Muchos a Muchos (N:M)</a:t>
            </a:r>
          </a:p>
          <a:p>
            <a:r>
              <a:rPr lang="es-MX" dirty="0"/>
              <a:t>Múltiples instancias de A se relacionan con MÚLTIPLES instancias de B</a:t>
            </a:r>
          </a:p>
          <a:p>
            <a:r>
              <a:rPr lang="es-MX" b="1" dirty="0"/>
              <a:t>Ejemplo:</a:t>
            </a:r>
            <a:r>
              <a:rPr lang="es-MX" dirty="0"/>
              <a:t> ESTUDIANTE (N) --- MATRICULADO EN --- (M) CURSO</a:t>
            </a:r>
          </a:p>
          <a:p>
            <a:r>
              <a:rPr lang="es-MX" b="1" dirty="0"/>
              <a:t>Regla:</a:t>
            </a:r>
            <a:r>
              <a:rPr lang="es-MX" dirty="0"/>
              <a:t> Se crea una tabla intermedia (tabla de unión)</a:t>
            </a:r>
          </a:p>
          <a:p>
            <a:r>
              <a:rPr lang="es-MX" dirty="0" err="1"/>
              <a:t>sql</a:t>
            </a:r>
            <a:endParaRPr lang="es-MX" dirty="0"/>
          </a:p>
          <a:p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2166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F08F0A-6604-EAE6-E600-DD6ED62E8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87476"/>
            <a:ext cx="10134600" cy="478557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REGLAS DE ASOCIACIONES – CARDINALIDAD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C426C9-9355-AF68-5C47-0E454A13C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88508"/>
            <a:ext cx="10134600" cy="5064807"/>
          </a:xfrm>
        </p:spPr>
        <p:txBody>
          <a:bodyPr>
            <a:normAutofit fontScale="92500" lnSpcReduction="10000"/>
          </a:bodyPr>
          <a:lstStyle/>
          <a:p>
            <a:r>
              <a:rPr lang="it-IT" b="1" dirty="0"/>
              <a:t>1. Uno a Uno (1:1) </a:t>
            </a:r>
            <a:endParaRPr lang="es-CO" dirty="0"/>
          </a:p>
          <a:p>
            <a:r>
              <a:rPr lang="es-CO" dirty="0"/>
              <a:t>CREATE TABLE empleado (</a:t>
            </a:r>
          </a:p>
          <a:p>
            <a:r>
              <a:rPr lang="es-CO" dirty="0"/>
              <a:t>    </a:t>
            </a:r>
            <a:r>
              <a:rPr lang="es-CO" dirty="0" err="1"/>
              <a:t>id_empleado</a:t>
            </a:r>
            <a:r>
              <a:rPr lang="es-CO" dirty="0"/>
              <a:t> INT PRIMARY KEY,</a:t>
            </a:r>
          </a:p>
          <a:p>
            <a:r>
              <a:rPr lang="es-CO" dirty="0"/>
              <a:t>    nombre VARCHAR(100)</a:t>
            </a:r>
          </a:p>
          <a:p>
            <a:r>
              <a:rPr lang="es-CO" dirty="0"/>
              <a:t>);</a:t>
            </a:r>
          </a:p>
          <a:p>
            <a:endParaRPr lang="es-CO" dirty="0"/>
          </a:p>
          <a:p>
            <a:r>
              <a:rPr lang="es-CO" dirty="0"/>
              <a:t>CREATE TABLE despacho (</a:t>
            </a:r>
          </a:p>
          <a:p>
            <a:r>
              <a:rPr lang="es-CO" dirty="0"/>
              <a:t>    </a:t>
            </a:r>
            <a:r>
              <a:rPr lang="es-CO" dirty="0" err="1"/>
              <a:t>id_despacho</a:t>
            </a:r>
            <a:r>
              <a:rPr lang="es-CO" dirty="0"/>
              <a:t> INT PRIMARY KEY,</a:t>
            </a:r>
          </a:p>
          <a:p>
            <a:r>
              <a:rPr lang="es-CO" dirty="0"/>
              <a:t>    numero VARCHAR(10),</a:t>
            </a:r>
          </a:p>
          <a:p>
            <a:r>
              <a:rPr lang="es-CO" dirty="0"/>
              <a:t>    </a:t>
            </a:r>
            <a:r>
              <a:rPr lang="es-CO" dirty="0" err="1"/>
              <a:t>id_empleado</a:t>
            </a:r>
            <a:r>
              <a:rPr lang="es-CO" dirty="0"/>
              <a:t> INT UNIQUE,</a:t>
            </a:r>
          </a:p>
          <a:p>
            <a:r>
              <a:rPr lang="es-CO" dirty="0"/>
              <a:t>    FOREIGN KEY (</a:t>
            </a:r>
            <a:r>
              <a:rPr lang="es-CO" dirty="0" err="1"/>
              <a:t>id_empleado</a:t>
            </a:r>
            <a:r>
              <a:rPr lang="es-CO" dirty="0"/>
              <a:t>) REFERENCES empleado(</a:t>
            </a:r>
            <a:r>
              <a:rPr lang="es-CO" dirty="0" err="1"/>
              <a:t>id_empleado</a:t>
            </a:r>
            <a:r>
              <a:rPr lang="es-CO" dirty="0"/>
              <a:t>)</a:t>
            </a:r>
          </a:p>
          <a:p>
            <a:r>
              <a:rPr lang="es-CO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4056263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E93A-6A18-2BBD-3756-7288F0D6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A48C1-9387-9F85-52BB-11E17B7F8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87476"/>
            <a:ext cx="10134600" cy="478557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REGLAS DE ASOCIACIONES - CARDINALIDAD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D75F97-5152-A427-00F8-272513FD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88508"/>
            <a:ext cx="10134600" cy="5064807"/>
          </a:xfrm>
        </p:spPr>
        <p:txBody>
          <a:bodyPr>
            <a:normAutofit fontScale="92500" lnSpcReduction="10000"/>
          </a:bodyPr>
          <a:lstStyle/>
          <a:p>
            <a:r>
              <a:rPr lang="es-MX" b="1" dirty="0"/>
              <a:t>2. Uno a Muchos (1:N)</a:t>
            </a:r>
          </a:p>
          <a:p>
            <a:r>
              <a:rPr lang="es-MX" sz="2100" dirty="0"/>
              <a:t>CREATE TABLE departamento (</a:t>
            </a:r>
          </a:p>
          <a:p>
            <a:r>
              <a:rPr lang="es-MX" sz="2100" dirty="0"/>
              <a:t>    </a:t>
            </a:r>
            <a:r>
              <a:rPr lang="es-MX" sz="2100" dirty="0" err="1"/>
              <a:t>id_depto</a:t>
            </a:r>
            <a:r>
              <a:rPr lang="es-MX" sz="2100" dirty="0"/>
              <a:t> INT PRIMARY KEY,</a:t>
            </a:r>
          </a:p>
          <a:p>
            <a:r>
              <a:rPr lang="es-MX" sz="2100" dirty="0"/>
              <a:t>    nombre VARCHAR(100)</a:t>
            </a:r>
          </a:p>
          <a:p>
            <a:r>
              <a:rPr lang="es-MX" sz="2100" dirty="0"/>
              <a:t>);</a:t>
            </a:r>
          </a:p>
          <a:p>
            <a:endParaRPr lang="es-MX" sz="2100" dirty="0"/>
          </a:p>
          <a:p>
            <a:r>
              <a:rPr lang="es-MX" sz="2100" dirty="0"/>
              <a:t>CREATE TABLE empleado (</a:t>
            </a:r>
          </a:p>
          <a:p>
            <a:r>
              <a:rPr lang="es-MX" sz="2100" dirty="0"/>
              <a:t>    </a:t>
            </a:r>
            <a:r>
              <a:rPr lang="es-MX" sz="2100" dirty="0" err="1"/>
              <a:t>id_empleado</a:t>
            </a:r>
            <a:r>
              <a:rPr lang="es-MX" sz="2100" dirty="0"/>
              <a:t> INT PRIMARY KEY,</a:t>
            </a:r>
          </a:p>
          <a:p>
            <a:r>
              <a:rPr lang="es-MX" sz="2100" dirty="0"/>
              <a:t>    nombre VARCHAR(100),</a:t>
            </a:r>
          </a:p>
          <a:p>
            <a:r>
              <a:rPr lang="es-MX" sz="2100" dirty="0"/>
              <a:t>    </a:t>
            </a:r>
            <a:r>
              <a:rPr lang="es-MX" sz="2100" dirty="0" err="1"/>
              <a:t>id_depto</a:t>
            </a:r>
            <a:r>
              <a:rPr lang="es-MX" sz="2100" dirty="0"/>
              <a:t> INT,</a:t>
            </a:r>
          </a:p>
          <a:p>
            <a:r>
              <a:rPr lang="es-MX" sz="2100" dirty="0"/>
              <a:t>    FOREIGN KEY (</a:t>
            </a:r>
            <a:r>
              <a:rPr lang="es-MX" sz="2100" dirty="0" err="1"/>
              <a:t>id_depto</a:t>
            </a:r>
            <a:r>
              <a:rPr lang="es-MX" sz="2100" dirty="0"/>
              <a:t>) REFERENCES departamento(</a:t>
            </a:r>
            <a:r>
              <a:rPr lang="es-MX" sz="2100" dirty="0" err="1"/>
              <a:t>id_depto</a:t>
            </a:r>
            <a:r>
              <a:rPr lang="es-MX" sz="2100" dirty="0"/>
              <a:t>)</a:t>
            </a:r>
          </a:p>
          <a:p>
            <a:r>
              <a:rPr lang="es-MX" sz="21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59896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62301-1F9B-86A0-37A7-2F188CE1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63C44-610E-A7FF-6DAC-75635094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87476"/>
            <a:ext cx="10134600" cy="478557"/>
          </a:xfrm>
        </p:spPr>
        <p:txBody>
          <a:bodyPr>
            <a:normAutofit fontScale="90000"/>
          </a:bodyPr>
          <a:lstStyle/>
          <a:p>
            <a:r>
              <a:rPr lang="es-CO" b="1" dirty="0"/>
              <a:t>REGLAS DE ASOCIACIONES - CARDINALIDAD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E411C3-39C0-3847-04E5-53EF6847F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88508"/>
            <a:ext cx="4487197" cy="5064807"/>
          </a:xfrm>
        </p:spPr>
        <p:txBody>
          <a:bodyPr>
            <a:normAutofit/>
          </a:bodyPr>
          <a:lstStyle/>
          <a:p>
            <a:r>
              <a:rPr lang="es-MX" b="1" dirty="0"/>
              <a:t>3. Muchos a Muchos (N:M)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CREATE TABLE estudiante (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    </a:t>
            </a:r>
            <a:r>
              <a:rPr lang="es-MX" sz="1900" dirty="0" err="1"/>
              <a:t>id_estudiante</a:t>
            </a:r>
            <a:r>
              <a:rPr lang="es-MX" sz="1900" dirty="0"/>
              <a:t> INT PRIMARY KEY,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    nombre VARCHAR(100)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);</a:t>
            </a:r>
          </a:p>
          <a:p>
            <a:pPr>
              <a:lnSpc>
                <a:spcPct val="100000"/>
              </a:lnSpc>
            </a:pPr>
            <a:endParaRPr lang="es-MX" sz="1900" dirty="0"/>
          </a:p>
          <a:p>
            <a:pPr>
              <a:lnSpc>
                <a:spcPct val="100000"/>
              </a:lnSpc>
            </a:pPr>
            <a:r>
              <a:rPr lang="es-MX" sz="1900" dirty="0"/>
              <a:t>CREATE TABLE curso (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    </a:t>
            </a:r>
            <a:r>
              <a:rPr lang="es-MX" sz="1900" dirty="0" err="1"/>
              <a:t>id_curso</a:t>
            </a:r>
            <a:r>
              <a:rPr lang="es-MX" sz="1900" dirty="0"/>
              <a:t> INT PRIMARY KEY,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    nombre VARCHAR(100)</a:t>
            </a:r>
          </a:p>
          <a:p>
            <a:pPr>
              <a:lnSpc>
                <a:spcPct val="100000"/>
              </a:lnSpc>
            </a:pPr>
            <a:r>
              <a:rPr lang="es-MX" sz="1900" dirty="0"/>
              <a:t>);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67736E0-3665-EDFA-A1CF-D2503EDCD834}"/>
              </a:ext>
            </a:extLst>
          </p:cNvPr>
          <p:cNvSpPr txBox="1">
            <a:spLocks/>
          </p:cNvSpPr>
          <p:nvPr/>
        </p:nvSpPr>
        <p:spPr>
          <a:xfrm>
            <a:off x="5515897" y="1093906"/>
            <a:ext cx="6386051" cy="5064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1900" dirty="0"/>
              <a:t>CREATE TABLE matricula (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id_estudiante</a:t>
            </a:r>
            <a:r>
              <a:rPr lang="es-MX" sz="1900" dirty="0"/>
              <a:t> INT,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id_curso</a:t>
            </a:r>
            <a:r>
              <a:rPr lang="es-MX" sz="1900" dirty="0"/>
              <a:t> INT,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fecha_matricula</a:t>
            </a:r>
            <a:r>
              <a:rPr lang="es-MX" sz="1900" dirty="0"/>
              <a:t> DATE,</a:t>
            </a:r>
          </a:p>
          <a:p>
            <a:r>
              <a:rPr lang="es-MX" sz="1900" dirty="0"/>
              <a:t>    PRIMARY KEY (</a:t>
            </a:r>
            <a:r>
              <a:rPr lang="es-MX" sz="1900" dirty="0" err="1"/>
              <a:t>id_estudiante</a:t>
            </a:r>
            <a:r>
              <a:rPr lang="es-MX" sz="1900" dirty="0"/>
              <a:t>, </a:t>
            </a:r>
            <a:r>
              <a:rPr lang="es-MX" sz="1900" dirty="0" err="1"/>
              <a:t>id_curso</a:t>
            </a:r>
            <a:r>
              <a:rPr lang="es-MX" sz="1900" dirty="0"/>
              <a:t>),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id_estudiante</a:t>
            </a:r>
            <a:r>
              <a:rPr lang="es-MX" sz="1900" dirty="0"/>
              <a:t>) REFERENCES estudiante(</a:t>
            </a:r>
            <a:r>
              <a:rPr lang="es-MX" sz="1900" dirty="0" err="1"/>
              <a:t>id_estudiante</a:t>
            </a:r>
            <a:r>
              <a:rPr lang="es-MX" sz="1900" dirty="0"/>
              <a:t>),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id_curso</a:t>
            </a:r>
            <a:r>
              <a:rPr lang="es-MX" sz="1900" dirty="0"/>
              <a:t>) REFERENCES curso(</a:t>
            </a:r>
            <a:r>
              <a:rPr lang="es-MX" sz="1900" dirty="0" err="1"/>
              <a:t>id_curso</a:t>
            </a:r>
            <a:r>
              <a:rPr lang="es-MX" sz="1900" dirty="0"/>
              <a:t>)</a:t>
            </a:r>
          </a:p>
          <a:p>
            <a:r>
              <a:rPr lang="es-MX" sz="19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522535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407DB-DDA5-B44C-36DE-BD0F1E05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28483"/>
            <a:ext cx="10134600" cy="59654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13B7A8D-CAC7-510E-C91B-62C4E0F8A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25027"/>
            <a:ext cx="10134600" cy="5106218"/>
          </a:xfrm>
        </p:spPr>
        <p:txBody>
          <a:bodyPr>
            <a:normAutofit fontScale="92500" lnSpcReduction="20000"/>
          </a:bodyPr>
          <a:lstStyle/>
          <a:p>
            <a:r>
              <a:rPr lang="es-MX" b="1" dirty="0"/>
              <a:t>PASO A PASO - DISEÑO COMPLETO</a:t>
            </a:r>
          </a:p>
          <a:p>
            <a:r>
              <a:rPr lang="es-MX" b="1" dirty="0"/>
              <a:t>FASE 1: RECOLECCIÓN DE REQUERIMIENTOS</a:t>
            </a:r>
          </a:p>
          <a:p>
            <a:r>
              <a:rPr lang="es-MX" b="1" dirty="0"/>
              <a:t>* Entrevistas con Stakeholders:</a:t>
            </a:r>
            <a:endParaRPr lang="es-MX" dirty="0"/>
          </a:p>
          <a:p>
            <a:r>
              <a:rPr lang="es-MX" b="1" dirty="0"/>
              <a:t>    - Gerente General:</a:t>
            </a:r>
            <a:r>
              <a:rPr lang="es-MX" dirty="0"/>
              <a:t> "Necesito control de ocupación y </a:t>
            </a:r>
            <a:r>
              <a:rPr lang="es-MX" dirty="0" err="1"/>
              <a:t>revenue</a:t>
            </a:r>
            <a:r>
              <a:rPr lang="es-MX" dirty="0"/>
              <a:t> </a:t>
            </a:r>
            <a:r>
              <a:rPr lang="es-MX" dirty="0" err="1"/>
              <a:t>management</a:t>
            </a:r>
            <a:r>
              <a:rPr lang="es-MX" dirty="0"/>
              <a:t>"</a:t>
            </a:r>
          </a:p>
          <a:p>
            <a:r>
              <a:rPr lang="es-MX" b="1" dirty="0"/>
              <a:t>    - Recepcionista:</a:t>
            </a:r>
            <a:r>
              <a:rPr lang="es-MX" dirty="0"/>
              <a:t> "Debo saber habitaciones disponibles y datos de huéspedes"</a:t>
            </a:r>
          </a:p>
          <a:p>
            <a:r>
              <a:rPr lang="es-MX" b="1" dirty="0"/>
              <a:t>    - </a:t>
            </a:r>
            <a:r>
              <a:rPr lang="es-MX" b="1" dirty="0" err="1"/>
              <a:t>Housekeeping</a:t>
            </a:r>
            <a:r>
              <a:rPr lang="es-MX" b="1" dirty="0"/>
              <a:t>:</a:t>
            </a:r>
            <a:r>
              <a:rPr lang="es-MX" dirty="0"/>
              <a:t> "Necesito reportes de limpieza y mantenimiento"</a:t>
            </a:r>
          </a:p>
          <a:p>
            <a:r>
              <a:rPr lang="es-MX" b="1" dirty="0"/>
              <a:t>    - Contabilidad:</a:t>
            </a:r>
            <a:r>
              <a:rPr lang="es-MX" dirty="0"/>
              <a:t> "Requiero facturación detallada por servicios"</a:t>
            </a:r>
          </a:p>
          <a:p>
            <a:r>
              <a:rPr lang="es-MX" b="1" dirty="0"/>
              <a:t>* Requerimientos Identificados:</a:t>
            </a:r>
            <a:endParaRPr lang="es-MX" dirty="0"/>
          </a:p>
          <a:p>
            <a:r>
              <a:rPr lang="es-MX" dirty="0"/>
              <a:t>    - Gestión de huéspedes y reservas</a:t>
            </a:r>
          </a:p>
          <a:p>
            <a:r>
              <a:rPr lang="es-MX" dirty="0"/>
              <a:t>    - Control de habitaciones y tarifas</a:t>
            </a:r>
          </a:p>
          <a:p>
            <a:r>
              <a:rPr lang="es-MX" dirty="0"/>
              <a:t>    - Registro de servicios adicionales</a:t>
            </a:r>
          </a:p>
          <a:p>
            <a:r>
              <a:rPr lang="es-MX" dirty="0"/>
              <a:t>    - Gestión de empleados y turnos</a:t>
            </a:r>
          </a:p>
          <a:p>
            <a:r>
              <a:rPr lang="es-MX" dirty="0"/>
              <a:t>    - Facturación y reportes financieros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67155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7243A-5722-6E32-A886-6278CB8EB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3916A-8D9F-A1EE-675F-D7559C10F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28483"/>
            <a:ext cx="10134600" cy="59654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0F7E55-7060-E69A-1AA8-023A53C8F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25027"/>
            <a:ext cx="10134600" cy="5106218"/>
          </a:xfrm>
        </p:spPr>
        <p:txBody>
          <a:bodyPr>
            <a:normAutofit/>
          </a:bodyPr>
          <a:lstStyle/>
          <a:p>
            <a:r>
              <a:rPr lang="es-MX" b="1" dirty="0"/>
              <a:t>FASE 2: MODELO ENTIDAD-RELACIÓN</a:t>
            </a:r>
          </a:p>
          <a:p>
            <a:r>
              <a:rPr lang="es-MX" b="1" dirty="0"/>
              <a:t>Identificación de Entidades Principales:</a:t>
            </a:r>
            <a:endParaRPr lang="es-MX" dirty="0"/>
          </a:p>
          <a:p>
            <a:r>
              <a:rPr lang="es-CO" b="1" dirty="0"/>
              <a:t>T1. </a:t>
            </a:r>
            <a:r>
              <a:rPr lang="es-CO" b="1" dirty="0" err="1"/>
              <a:t>écnica</a:t>
            </a:r>
            <a:r>
              <a:rPr lang="es-CO" b="1" dirty="0"/>
              <a:t>: Análisis de Sustantivos</a:t>
            </a:r>
          </a:p>
          <a:p>
            <a:r>
              <a:rPr lang="es-CO" dirty="0"/>
              <a:t>Revisamos los requerimientos y extraemos sustantivos que representen "cosas" que necesitamos almacenar:</a:t>
            </a:r>
          </a:p>
          <a:p>
            <a:r>
              <a:rPr lang="es-CO" b="1" dirty="0"/>
              <a:t>2. Lista de Sustantivos Identificados:</a:t>
            </a:r>
            <a:endParaRPr lang="es-CO" dirty="0"/>
          </a:p>
          <a:p>
            <a:r>
              <a:rPr lang="es-CO" dirty="0"/>
              <a:t>huésped, cliente, reserva, habitación, tipo, tarifa, precio</a:t>
            </a:r>
          </a:p>
          <a:p>
            <a:r>
              <a:rPr lang="es-CO" dirty="0"/>
              <a:t>empleado, recepcionista, servicio, restaurante, spa</a:t>
            </a:r>
          </a:p>
          <a:p>
            <a:r>
              <a:rPr lang="es-CO" dirty="0"/>
              <a:t>factura, pago, </a:t>
            </a:r>
            <a:r>
              <a:rPr lang="es-CO" dirty="0" err="1"/>
              <a:t>check</a:t>
            </a:r>
            <a:r>
              <a:rPr lang="es-CO" dirty="0"/>
              <a:t>-in, </a:t>
            </a:r>
            <a:r>
              <a:rPr lang="es-CO" dirty="0" err="1"/>
              <a:t>check-out</a:t>
            </a:r>
            <a:endParaRPr lang="es-CO" dirty="0"/>
          </a:p>
          <a:p>
            <a:r>
              <a:rPr lang="es-CO" dirty="0"/>
              <a:t>departamento, turno, limpieza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01399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C2C07-1B4D-DB4A-D819-1B78F1E37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81A130-019D-555D-5D90-502094A11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28483"/>
            <a:ext cx="10134600" cy="59654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B11893-0882-6E55-1325-4728EA252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025027"/>
            <a:ext cx="10134600" cy="5106218"/>
          </a:xfrm>
        </p:spPr>
        <p:txBody>
          <a:bodyPr>
            <a:normAutofit/>
          </a:bodyPr>
          <a:lstStyle/>
          <a:p>
            <a:r>
              <a:rPr lang="es-MX" b="1" dirty="0"/>
              <a:t>FASE 2: MODELO ENTIDAD-RELACIÓN</a:t>
            </a:r>
          </a:p>
          <a:p>
            <a:r>
              <a:rPr lang="es-MX" b="1" dirty="0"/>
              <a:t>Identificación de Entidades Principales:</a:t>
            </a:r>
            <a:endParaRPr lang="es-MX" dirty="0"/>
          </a:p>
          <a:p>
            <a:r>
              <a:rPr lang="es-MX" b="1" dirty="0"/>
              <a:t>3. Filtrado y Consolidación:</a:t>
            </a:r>
          </a:p>
          <a:p>
            <a:r>
              <a:rPr lang="es-MX" b="1" dirty="0"/>
              <a:t>Eliminar Sinónimos:</a:t>
            </a:r>
            <a:r>
              <a:rPr lang="es-MX" dirty="0"/>
              <a:t> huésped = cliente</a:t>
            </a:r>
          </a:p>
          <a:p>
            <a:r>
              <a:rPr lang="es-MX" b="1" dirty="0"/>
              <a:t>Eliminar Atributos:</a:t>
            </a:r>
            <a:r>
              <a:rPr lang="es-MX" dirty="0"/>
              <a:t> precio → será atributo, no entidad</a:t>
            </a:r>
          </a:p>
          <a:p>
            <a:r>
              <a:rPr lang="es-MX" b="1" dirty="0"/>
              <a:t>Eliminar Operacionales:</a:t>
            </a:r>
            <a:r>
              <a:rPr lang="es-MX" dirty="0"/>
              <a:t> </a:t>
            </a:r>
            <a:r>
              <a:rPr lang="es-MX" dirty="0" err="1"/>
              <a:t>check</a:t>
            </a:r>
            <a:r>
              <a:rPr lang="es-MX" dirty="0"/>
              <a:t>-in → será operación, no entidad</a:t>
            </a:r>
          </a:p>
          <a:p>
            <a:r>
              <a:rPr lang="es-MX" b="1" dirty="0"/>
              <a:t>4. Entidades Finales Identificadas:</a:t>
            </a:r>
          </a:p>
          <a:p>
            <a:r>
              <a:rPr lang="es-MX" dirty="0" err="1"/>
              <a:t>Huesped</a:t>
            </a:r>
            <a:r>
              <a:rPr lang="es-MX" dirty="0"/>
              <a:t>                                            Empleado</a:t>
            </a:r>
          </a:p>
          <a:p>
            <a:r>
              <a:rPr lang="es-MX" dirty="0"/>
              <a:t>Reserva                                             Servicio</a:t>
            </a:r>
          </a:p>
          <a:p>
            <a:r>
              <a:rPr lang="es-MX" dirty="0"/>
              <a:t>Habitación                                         Factura</a:t>
            </a:r>
          </a:p>
          <a:p>
            <a:r>
              <a:rPr lang="es-MX" dirty="0" err="1"/>
              <a:t>Tipo_Habitación</a:t>
            </a:r>
            <a:r>
              <a:rPr lang="es-MX" dirty="0"/>
              <a:t>                                Departamento</a:t>
            </a:r>
          </a:p>
          <a:p>
            <a:endParaRPr lang="es-MX" dirty="0"/>
          </a:p>
          <a:p>
            <a:endParaRPr lang="es-MX" b="1" dirty="0"/>
          </a:p>
          <a:p>
            <a:endParaRPr lang="es-MX" b="1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63357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30285-25D4-FE63-BC46-CE29EFA1A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0D06A4-8EC1-2435-D46A-DC6A36139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5268861" cy="5255757"/>
          </a:xfrm>
        </p:spPr>
        <p:txBody>
          <a:bodyPr>
            <a:normAutofit fontScale="92500" lnSpcReduction="10000"/>
          </a:bodyPr>
          <a:lstStyle/>
          <a:p>
            <a:r>
              <a:rPr lang="es-CO" b="1" dirty="0"/>
              <a:t> IDENTIFICACIÓN DE ATRIBUTOS</a:t>
            </a:r>
          </a:p>
          <a:p>
            <a:r>
              <a:rPr lang="es-MX" b="1" dirty="0"/>
              <a:t>Técnica: Preguntar "¿Qué información necesitamos de...?"</a:t>
            </a:r>
            <a:endParaRPr lang="es-MX" dirty="0"/>
          </a:p>
          <a:p>
            <a:r>
              <a:rPr lang="es-MX" b="1" dirty="0"/>
              <a:t>HUÉSPED:</a:t>
            </a:r>
            <a:endParaRPr lang="es-MX" dirty="0"/>
          </a:p>
          <a:p>
            <a:r>
              <a:rPr lang="es-MX" dirty="0"/>
              <a:t>Identificador único: </a:t>
            </a:r>
            <a:r>
              <a:rPr lang="es-MX" dirty="0" err="1"/>
              <a:t>id_huésped</a:t>
            </a:r>
            <a:endParaRPr lang="es-MX" dirty="0"/>
          </a:p>
          <a:p>
            <a:r>
              <a:rPr lang="es-MX" dirty="0"/>
              <a:t>Datos personales: nombre, apellido, email, teléfono</a:t>
            </a:r>
          </a:p>
          <a:p>
            <a:r>
              <a:rPr lang="es-MX" dirty="0"/>
              <a:t>Documentación: </a:t>
            </a:r>
            <a:r>
              <a:rPr lang="es-MX" dirty="0" err="1"/>
              <a:t>tipo_documento</a:t>
            </a:r>
            <a:r>
              <a:rPr lang="es-MX" dirty="0"/>
              <a:t>, </a:t>
            </a:r>
            <a:r>
              <a:rPr lang="es-MX" dirty="0" err="1"/>
              <a:t>numero_documento</a:t>
            </a:r>
            <a:endParaRPr lang="es-MX" dirty="0"/>
          </a:p>
          <a:p>
            <a:r>
              <a:rPr lang="es-MX" dirty="0"/>
              <a:t>Fechas: </a:t>
            </a:r>
            <a:r>
              <a:rPr lang="es-MX" dirty="0" err="1"/>
              <a:t>fecha_registro</a:t>
            </a:r>
            <a:endParaRPr lang="es-MX" dirty="0"/>
          </a:p>
          <a:p>
            <a:r>
              <a:rPr lang="es-MX" b="1" dirty="0"/>
              <a:t>HABITACIÓN:</a:t>
            </a:r>
            <a:endParaRPr lang="es-MX" dirty="0"/>
          </a:p>
          <a:p>
            <a:r>
              <a:rPr lang="es-MX" dirty="0"/>
              <a:t>Identificador: </a:t>
            </a:r>
            <a:r>
              <a:rPr lang="es-MX" dirty="0" err="1"/>
              <a:t>id_habitacion</a:t>
            </a:r>
            <a:endParaRPr lang="es-MX" dirty="0"/>
          </a:p>
          <a:p>
            <a:r>
              <a:rPr lang="es-MX" dirty="0"/>
              <a:t>Descriptivos: numero, piso, estado</a:t>
            </a:r>
          </a:p>
          <a:p>
            <a:r>
              <a:rPr lang="es-MX" dirty="0"/>
              <a:t>Relacional: </a:t>
            </a:r>
            <a:r>
              <a:rPr lang="es-MX" dirty="0" err="1"/>
              <a:t>id_tipo_habitacion</a:t>
            </a:r>
            <a:endParaRPr lang="es-MX" dirty="0"/>
          </a:p>
          <a:p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99331CA3-596E-1535-5EE4-AB680344CAD1}"/>
              </a:ext>
            </a:extLst>
          </p:cNvPr>
          <p:cNvSpPr txBox="1">
            <a:spLocks/>
          </p:cNvSpPr>
          <p:nvPr/>
        </p:nvSpPr>
        <p:spPr>
          <a:xfrm>
            <a:off x="6397112" y="1129513"/>
            <a:ext cx="5268861" cy="525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b="1" dirty="0"/>
              <a:t> </a:t>
            </a:r>
            <a:r>
              <a:rPr lang="es-MX" b="1" dirty="0"/>
              <a:t>RESERVA:</a:t>
            </a:r>
            <a:endParaRPr lang="es-MX" dirty="0"/>
          </a:p>
          <a:p>
            <a:r>
              <a:rPr lang="es-MX" dirty="0"/>
              <a:t>Identificador: </a:t>
            </a:r>
            <a:r>
              <a:rPr lang="es-MX" dirty="0" err="1"/>
              <a:t>id_reserva</a:t>
            </a:r>
            <a:endParaRPr lang="es-MX" dirty="0"/>
          </a:p>
          <a:p>
            <a:r>
              <a:rPr lang="es-MX" dirty="0"/>
              <a:t>Fechas: </a:t>
            </a:r>
            <a:r>
              <a:rPr lang="es-MX" dirty="0" err="1"/>
              <a:t>fecha_reserva</a:t>
            </a:r>
            <a:r>
              <a:rPr lang="es-MX" dirty="0"/>
              <a:t>, </a:t>
            </a:r>
            <a:r>
              <a:rPr lang="es-MX" dirty="0" err="1"/>
              <a:t>fecha_checkin</a:t>
            </a:r>
            <a:r>
              <a:rPr lang="es-MX" dirty="0"/>
              <a:t>, </a:t>
            </a:r>
            <a:r>
              <a:rPr lang="es-MX" dirty="0" err="1"/>
              <a:t>fecha_checkout</a:t>
            </a:r>
            <a:endParaRPr lang="es-MX" dirty="0"/>
          </a:p>
          <a:p>
            <a:r>
              <a:rPr lang="es-MX" dirty="0"/>
              <a:t>Estados: </a:t>
            </a:r>
            <a:r>
              <a:rPr lang="es-MX" dirty="0" err="1"/>
              <a:t>estado_reserva</a:t>
            </a:r>
            <a:endParaRPr lang="es-MX" dirty="0"/>
          </a:p>
          <a:p>
            <a:r>
              <a:rPr lang="es-MX" dirty="0"/>
              <a:t>Relacionales: </a:t>
            </a:r>
            <a:r>
              <a:rPr lang="es-MX" dirty="0" err="1"/>
              <a:t>id_huésped</a:t>
            </a:r>
            <a:r>
              <a:rPr lang="es-MX" dirty="0"/>
              <a:t>, </a:t>
            </a:r>
            <a:r>
              <a:rPr lang="es-MX" dirty="0" err="1"/>
              <a:t>id_habitacion</a:t>
            </a:r>
            <a:r>
              <a:rPr lang="es-MX" dirty="0"/>
              <a:t>, </a:t>
            </a:r>
            <a:r>
              <a:rPr lang="es-MX" dirty="0" err="1"/>
              <a:t>id_empleado</a:t>
            </a:r>
            <a:endParaRPr lang="es-MX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8169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C6CAF-4BE2-8993-2C58-5CFA58A5D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6F6459-544A-6A7D-674B-56225948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DF3BE-6CDA-F3E7-75F7-4414A6A22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5268861" cy="5255757"/>
          </a:xfrm>
        </p:spPr>
        <p:txBody>
          <a:bodyPr>
            <a:normAutofit/>
          </a:bodyPr>
          <a:lstStyle/>
          <a:p>
            <a:r>
              <a:rPr lang="es-CO" b="1" dirty="0"/>
              <a:t> PASO 4: IDENTIFICACIÓN DE RELACIONES</a:t>
            </a:r>
          </a:p>
          <a:p>
            <a:r>
              <a:rPr lang="es-CO" b="1" dirty="0"/>
              <a:t>Técnica: Análisis de Verbos</a:t>
            </a:r>
          </a:p>
          <a:p>
            <a:r>
              <a:rPr lang="es-CO" dirty="0"/>
              <a:t>Buscamos acciones que conecten entidades:</a:t>
            </a:r>
          </a:p>
          <a:p>
            <a:r>
              <a:rPr lang="es-CO" b="1" dirty="0"/>
              <a:t>Verbos Identificados:</a:t>
            </a:r>
            <a:endParaRPr lang="es-CO" dirty="0"/>
          </a:p>
          <a:p>
            <a:r>
              <a:rPr lang="es-CO" dirty="0"/>
              <a:t>"huésped REALIZA reserva"</a:t>
            </a:r>
          </a:p>
          <a:p>
            <a:r>
              <a:rPr lang="es-CO" dirty="0"/>
              <a:t>"reserva SE_ASIGNA_A habitación"</a:t>
            </a:r>
          </a:p>
          <a:p>
            <a:r>
              <a:rPr lang="es-CO" dirty="0"/>
              <a:t>"empleado REGISTRA reserva"</a:t>
            </a:r>
          </a:p>
          <a:p>
            <a:r>
              <a:rPr lang="es-CO" dirty="0"/>
              <a:t>"huésped CONSUME servicio"</a:t>
            </a:r>
          </a:p>
          <a:p>
            <a:r>
              <a:rPr lang="es-CO" dirty="0"/>
              <a:t>"reserva GENERA factura"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99284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0A6BA-822A-1810-E64E-F9D2855FF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31D536-0555-0E50-8A50-AD5D92732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s-MX" b="1" dirty="0"/>
              <a:t>CASO DE ESTUDIO: SISTEMA DE HOTEL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07B31-9A4F-200D-BB87-8D36C9E03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10622526" cy="5255757"/>
          </a:xfrm>
        </p:spPr>
        <p:txBody>
          <a:bodyPr>
            <a:normAutofit fontScale="77500" lnSpcReduction="20000"/>
          </a:bodyPr>
          <a:lstStyle/>
          <a:p>
            <a:r>
              <a:rPr lang="es-CO" b="1" dirty="0"/>
              <a:t> </a:t>
            </a:r>
            <a:r>
              <a:rPr lang="es-MX" b="1" dirty="0"/>
              <a:t>PASO 5: DETERMINACIÓN DE CARDINALIDAD</a:t>
            </a:r>
          </a:p>
          <a:p>
            <a:r>
              <a:rPr lang="es-MX" b="1" dirty="0"/>
              <a:t>TÉCNICA: PREGUNTAS CLAVE</a:t>
            </a:r>
          </a:p>
          <a:p>
            <a:r>
              <a:rPr lang="es-MX" dirty="0"/>
              <a:t>Para cada relación, debemos hacernos </a:t>
            </a:r>
            <a:r>
              <a:rPr lang="es-MX" b="1" dirty="0"/>
              <a:t>4 preguntas fundamentales</a:t>
            </a:r>
            <a:r>
              <a:rPr lang="es-MX" dirty="0"/>
              <a:t>:</a:t>
            </a:r>
          </a:p>
          <a:p>
            <a:r>
              <a:rPr lang="es-MX" b="1" dirty="0"/>
              <a:t>Ejemplo: Relación HUÉSPED - RESERVA</a:t>
            </a:r>
            <a:endParaRPr lang="es-MX" dirty="0"/>
          </a:p>
          <a:p>
            <a:r>
              <a:rPr lang="es-MX" b="1" dirty="0"/>
              <a:t>¿Un HUÉSPED puede realizar CERO reservas?</a:t>
            </a:r>
            <a:endParaRPr lang="es-MX" dirty="0"/>
          </a:p>
          <a:p>
            <a:pPr lvl="1"/>
            <a:r>
              <a:rPr lang="es-MX" dirty="0"/>
              <a:t>Respuesta: </a:t>
            </a:r>
            <a:r>
              <a:rPr lang="es-MX" b="1" dirty="0"/>
              <a:t>SÍ</a:t>
            </a:r>
            <a:r>
              <a:rPr lang="es-MX" dirty="0"/>
              <a:t> (huésped registrado que aún no reserva)</a:t>
            </a:r>
          </a:p>
          <a:p>
            <a:pPr lvl="1"/>
            <a:r>
              <a:rPr lang="es-MX" dirty="0"/>
              <a:t>Conclusión: Mínimo = 0</a:t>
            </a:r>
          </a:p>
          <a:p>
            <a:r>
              <a:rPr lang="es-MX" b="1" dirty="0"/>
              <a:t>¿Un HUÉSPED puede realizar MÚLTIPLES reservas?</a:t>
            </a:r>
            <a:endParaRPr lang="es-MX" dirty="0"/>
          </a:p>
          <a:p>
            <a:pPr lvl="1"/>
            <a:r>
              <a:rPr lang="es-MX" dirty="0"/>
              <a:t>Respuesta: </a:t>
            </a:r>
            <a:r>
              <a:rPr lang="es-MX" b="1" dirty="0"/>
              <a:t>SÍ</a:t>
            </a:r>
            <a:r>
              <a:rPr lang="es-MX" dirty="0"/>
              <a:t> (huésped frecuente)</a:t>
            </a:r>
          </a:p>
          <a:p>
            <a:pPr lvl="1"/>
            <a:r>
              <a:rPr lang="es-MX" dirty="0"/>
              <a:t>Conclusión: Máximo = N</a:t>
            </a:r>
          </a:p>
          <a:p>
            <a:r>
              <a:rPr lang="es-MX" b="1" dirty="0"/>
              <a:t>¿Una RESERVA puede tener CERO huéspedes?</a:t>
            </a:r>
            <a:endParaRPr lang="es-MX" dirty="0"/>
          </a:p>
          <a:p>
            <a:pPr lvl="1"/>
            <a:r>
              <a:rPr lang="es-MX" dirty="0"/>
              <a:t>Respuesta: </a:t>
            </a:r>
            <a:r>
              <a:rPr lang="es-MX" b="1" dirty="0"/>
              <a:t>NO</a:t>
            </a:r>
            <a:r>
              <a:rPr lang="es-MX" dirty="0"/>
              <a:t> (toda reserva debe tener un huésped)</a:t>
            </a:r>
          </a:p>
          <a:p>
            <a:pPr lvl="1"/>
            <a:r>
              <a:rPr lang="es-MX" dirty="0"/>
              <a:t>Conclusión: Mínimo = 1</a:t>
            </a:r>
          </a:p>
          <a:p>
            <a:r>
              <a:rPr lang="es-MX" b="1" dirty="0"/>
              <a:t>¿Una RESERVA puede tener MÚLTIPLES huéspedes?</a:t>
            </a:r>
            <a:endParaRPr lang="es-MX" dirty="0"/>
          </a:p>
          <a:p>
            <a:pPr lvl="1"/>
            <a:r>
              <a:rPr lang="es-MX" dirty="0"/>
              <a:t>Respuesta: </a:t>
            </a:r>
            <a:r>
              <a:rPr lang="es-MX" b="1" dirty="0"/>
              <a:t>NO</a:t>
            </a:r>
            <a:r>
              <a:rPr lang="es-MX" dirty="0"/>
              <a:t> (cada reserva es para un huésped principal)</a:t>
            </a:r>
          </a:p>
          <a:p>
            <a:pPr lvl="1"/>
            <a:r>
              <a:rPr lang="es-MX" dirty="0"/>
              <a:t>Conclusión: Máximo = 1</a:t>
            </a:r>
          </a:p>
          <a:p>
            <a:r>
              <a:rPr lang="es-MX" b="1" dirty="0"/>
              <a:t>Cardinalidad Resultante:</a:t>
            </a:r>
            <a:r>
              <a:rPr lang="es-MX" dirty="0"/>
              <a:t> HUÉSPED (1) --- REALIZA --- (0,N) RESERVA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217582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516F-92B5-658A-1FB3-E558D3C46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331F7C-CEFF-1CD9-5C98-418F1F078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Notación Chen vs. Crows Foot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F152A1-1481-A42D-8DC8-8162184F8E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5534332" cy="5255757"/>
          </a:xfrm>
        </p:spPr>
        <p:txBody>
          <a:bodyPr>
            <a:normAutofit fontScale="92500" lnSpcReduction="20000"/>
          </a:bodyPr>
          <a:lstStyle/>
          <a:p>
            <a:r>
              <a:rPr lang="es-MX" b="1" dirty="0"/>
              <a:t>Notación Chen (1976) - El Clásico Académico</a:t>
            </a:r>
          </a:p>
          <a:p>
            <a:r>
              <a:rPr lang="es-MX" b="1" dirty="0"/>
              <a:t>Características principales:</a:t>
            </a:r>
            <a:endParaRPr lang="es-MX" dirty="0"/>
          </a:p>
          <a:p>
            <a:r>
              <a:rPr lang="es-MX" dirty="0"/>
              <a:t>Desarrollada por el Dr. Peter Chen</a:t>
            </a:r>
          </a:p>
          <a:p>
            <a:r>
              <a:rPr lang="es-MX" dirty="0"/>
              <a:t>Muy explícita y formal</a:t>
            </a:r>
          </a:p>
          <a:p>
            <a:r>
              <a:rPr lang="es-MX" dirty="0"/>
              <a:t>Ideal para documentación técnica detallada</a:t>
            </a:r>
          </a:p>
          <a:p>
            <a:r>
              <a:rPr lang="es-MX" dirty="0"/>
              <a:t>Relaciones: </a:t>
            </a:r>
          </a:p>
          <a:p>
            <a:r>
              <a:rPr lang="es-MX" dirty="0"/>
              <a:t>  1:1   (Uno a Uno)</a:t>
            </a:r>
          </a:p>
          <a:p>
            <a:r>
              <a:rPr lang="es-MX" dirty="0"/>
              <a:t>  1:N   (Uno a Muchos)</a:t>
            </a:r>
          </a:p>
          <a:p>
            <a:r>
              <a:rPr lang="es-MX" dirty="0"/>
              <a:t>  M:N   (Muchos a Muchos)</a:t>
            </a:r>
          </a:p>
          <a:p>
            <a:endParaRPr lang="es-MX" dirty="0"/>
          </a:p>
          <a:p>
            <a:r>
              <a:rPr lang="es-MX" dirty="0"/>
              <a:t>Ejemplo:</a:t>
            </a:r>
          </a:p>
          <a:p>
            <a:r>
              <a:rPr lang="es-MX" dirty="0"/>
              <a:t>  [EMPLEADO] ----(1:1)---- [DESPACHO]</a:t>
            </a:r>
          </a:p>
          <a:p>
            <a:r>
              <a:rPr lang="es-MX" dirty="0"/>
              <a:t>  [DEPARTAMENTO] ----(1:N)---- [EMPLEADO]</a:t>
            </a:r>
            <a:endParaRPr lang="es-CO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5679392-0ACA-039B-1638-1CF4C0FDC05B}"/>
              </a:ext>
            </a:extLst>
          </p:cNvPr>
          <p:cNvSpPr txBox="1">
            <a:spLocks/>
          </p:cNvSpPr>
          <p:nvPr/>
        </p:nvSpPr>
        <p:spPr>
          <a:xfrm>
            <a:off x="6096000" y="1129513"/>
            <a:ext cx="5534332" cy="525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b="1" dirty="0"/>
              <a:t>Ventajas en proyectos reales:</a:t>
            </a:r>
            <a:endParaRPr lang="es-MX" dirty="0"/>
          </a:p>
          <a:p>
            <a:r>
              <a:rPr lang="es-MX" dirty="0"/>
              <a:t>Mayor precisión semántica</a:t>
            </a:r>
          </a:p>
          <a:p>
            <a:r>
              <a:rPr lang="es-MX" dirty="0"/>
              <a:t>Mejor para sistemas complejos</a:t>
            </a:r>
          </a:p>
          <a:p>
            <a:r>
              <a:rPr lang="es-MX" dirty="0"/>
              <a:t>Documentación más clara para desarrolladores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33963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BBA9A-63A3-AAD2-E12B-B414C079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3280E7-2F18-6E4D-64E7-ABD058C88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Notación Chen vs. Crows Foot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C0A995-98A1-F37B-7A4B-264642D41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6301248" cy="5255757"/>
          </a:xfrm>
        </p:spPr>
        <p:txBody>
          <a:bodyPr>
            <a:normAutofit/>
          </a:bodyPr>
          <a:lstStyle/>
          <a:p>
            <a:r>
              <a:rPr lang="es-MX" b="1" dirty="0"/>
              <a:t>Notación Crows Foot (Pata de Cuervo) - El Estándar Industrial</a:t>
            </a:r>
          </a:p>
          <a:p>
            <a:r>
              <a:rPr lang="es-MX" b="1" dirty="0"/>
              <a:t>Características principales:</a:t>
            </a:r>
            <a:endParaRPr lang="es-MX" dirty="0"/>
          </a:p>
          <a:p>
            <a:r>
              <a:rPr lang="es-MX" dirty="0"/>
              <a:t>Visualmente intuitiva</a:t>
            </a:r>
          </a:p>
          <a:p>
            <a:r>
              <a:rPr lang="es-MX" dirty="0"/>
              <a:t>Ampliamente adoptada en herramientas modernas</a:t>
            </a:r>
          </a:p>
          <a:p>
            <a:r>
              <a:rPr lang="es-MX" dirty="0"/>
              <a:t>Menos "ruido" visual</a:t>
            </a:r>
          </a:p>
          <a:p>
            <a:r>
              <a:rPr lang="es-MX" b="1" dirty="0"/>
              <a:t>Símbolos clave:</a:t>
            </a:r>
          </a:p>
          <a:p>
            <a:r>
              <a:rPr lang="es-MX" dirty="0"/>
              <a:t>|    = Cero o Uno</a:t>
            </a:r>
          </a:p>
          <a:p>
            <a:r>
              <a:rPr lang="es-MX" dirty="0"/>
              <a:t>||   = Exactamente Uno</a:t>
            </a:r>
          </a:p>
          <a:p>
            <a:r>
              <a:rPr lang="es-MX" dirty="0"/>
              <a:t>}    = Cero o Más</a:t>
            </a:r>
          </a:p>
          <a:p>
            <a:r>
              <a:rPr lang="es-MX" dirty="0"/>
              <a:t>}||  = Uno o Más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714EF4D-F026-62E2-78F4-EFCD2CE5BBD7}"/>
              </a:ext>
            </a:extLst>
          </p:cNvPr>
          <p:cNvSpPr txBox="1">
            <a:spLocks/>
          </p:cNvSpPr>
          <p:nvPr/>
        </p:nvSpPr>
        <p:spPr>
          <a:xfrm>
            <a:off x="7329948" y="1129514"/>
            <a:ext cx="4433119" cy="5255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Tx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27432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SzPct val="85000"/>
              <a:buFont typeface="Arial" panose="020B0604020202020204" pitchFamily="34" charset="0"/>
              <a:buChar char="•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27432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54864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54864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Tx/>
              <a:buNone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b="1" dirty="0"/>
          </a:p>
          <a:p>
            <a:endParaRPr lang="es-MX" b="1" dirty="0"/>
          </a:p>
          <a:p>
            <a:endParaRPr lang="es-MX" b="1" dirty="0"/>
          </a:p>
          <a:p>
            <a:r>
              <a:rPr lang="es-CO" b="1" dirty="0"/>
              <a:t>Ejemplo práctico:</a:t>
            </a:r>
            <a:endParaRPr lang="es-MX" b="1" dirty="0"/>
          </a:p>
          <a:p>
            <a:r>
              <a:rPr lang="es-MX" b="1" dirty="0"/>
              <a:t>[CLIENTE] }||----|| [PEDIDO]</a:t>
            </a:r>
          </a:p>
          <a:p>
            <a:r>
              <a:rPr lang="es-MX" b="1" dirty="0"/>
              <a:t>    </a:t>
            </a:r>
          </a:p>
          <a:p>
            <a:r>
              <a:rPr lang="es-MX" b="1" dirty="0"/>
              <a:t>[PEDIDO] }||---|{ [PRODUCTO]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909588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375F0-13AF-141F-B017-6568CF26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202E8-211B-7B11-843D-BA9AB340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472728"/>
            <a:ext cx="10134600" cy="50805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Notación Chen vs. Crows Foot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8246BE2-3358-0945-C7B5-5097E62E1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129514"/>
            <a:ext cx="3853016" cy="5255757"/>
          </a:xfrm>
        </p:spPr>
        <p:txBody>
          <a:bodyPr>
            <a:normAutofit/>
          </a:bodyPr>
          <a:lstStyle/>
          <a:p>
            <a:r>
              <a:rPr lang="es-MX" b="1" dirty="0"/>
              <a:t>Notación Crows Foot (Pata de Cuervo) - El Estándar Industrial</a:t>
            </a:r>
          </a:p>
          <a:p>
            <a:r>
              <a:rPr lang="es-MX" b="1" dirty="0"/>
              <a:t>Símbolos clave:</a:t>
            </a:r>
          </a:p>
          <a:p>
            <a:r>
              <a:rPr lang="es-MX" dirty="0"/>
              <a:t>|    = Cero o Uno</a:t>
            </a:r>
          </a:p>
          <a:p>
            <a:r>
              <a:rPr lang="es-MX" dirty="0"/>
              <a:t>||   = Exactamente Uno</a:t>
            </a:r>
          </a:p>
          <a:p>
            <a:r>
              <a:rPr lang="es-MX" dirty="0"/>
              <a:t>}    = Cero o Más</a:t>
            </a:r>
          </a:p>
          <a:p>
            <a:r>
              <a:rPr lang="es-MX" dirty="0"/>
              <a:t>}||  = Uno o Más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478F52A-791E-64DC-5B2A-539AC0D9C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1598" y="1129514"/>
            <a:ext cx="4831702" cy="145584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381B6DE-08DF-0CC7-85F8-859A54CED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598" y="2834821"/>
            <a:ext cx="4831702" cy="11883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DFD4B3C-828C-8D41-2F65-65D91142F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601" y="4544454"/>
            <a:ext cx="4928700" cy="133169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03EC99F-59A1-7F84-9247-C5B5416D2D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69" y="5491100"/>
            <a:ext cx="3483107" cy="894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6805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F6D42-7F02-FA9D-A5B6-112BFA1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429" y="537946"/>
            <a:ext cx="10134600" cy="619036"/>
          </a:xfrm>
        </p:spPr>
        <p:txBody>
          <a:bodyPr/>
          <a:lstStyle/>
          <a:p>
            <a:r>
              <a:rPr lang="es-MX" dirty="0"/>
              <a:t>Conclusión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C64C76-9DAD-541C-0798-F81105C75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700" y="1401097"/>
            <a:ext cx="4708423" cy="4730148"/>
          </a:xfrm>
        </p:spPr>
        <p:txBody>
          <a:bodyPr>
            <a:normAutofit/>
          </a:bodyPr>
          <a:lstStyle/>
          <a:p>
            <a:r>
              <a:rPr lang="es-MX" b="1" dirty="0"/>
              <a:t>Chen es mejor para:</a:t>
            </a:r>
            <a:endParaRPr lang="es-MX" dirty="0"/>
          </a:p>
          <a:p>
            <a:r>
              <a:rPr lang="es-MX" dirty="0"/>
              <a:t>Documentación de requerimientos formales</a:t>
            </a:r>
          </a:p>
          <a:p>
            <a:r>
              <a:rPr lang="es-MX" dirty="0"/>
              <a:t>Sistemas legacy o gubernamentales</a:t>
            </a:r>
          </a:p>
          <a:p>
            <a:r>
              <a:rPr lang="es-MX" dirty="0"/>
              <a:t>Cuando la precisión es crítica</a:t>
            </a:r>
          </a:p>
          <a:p>
            <a:r>
              <a:rPr lang="es-MX" b="1" dirty="0"/>
              <a:t>Crows Foot es mejor para:</a:t>
            </a:r>
            <a:endParaRPr lang="es-MX" dirty="0"/>
          </a:p>
          <a:p>
            <a:r>
              <a:rPr lang="es-MX" dirty="0"/>
              <a:t>Reuniones con stakeholders no técnicos</a:t>
            </a:r>
          </a:p>
          <a:p>
            <a:r>
              <a:rPr lang="es-MX" dirty="0"/>
              <a:t>Desarrollo ágil y prototipado rápido</a:t>
            </a:r>
          </a:p>
          <a:p>
            <a:r>
              <a:rPr lang="es-MX" dirty="0"/>
              <a:t>La mayoría de proyectos comerciales modernos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2A5581D-ABD6-4630-CB29-479F59E9CB94}"/>
              </a:ext>
            </a:extLst>
          </p:cNvPr>
          <p:cNvSpPr txBox="1"/>
          <p:nvPr/>
        </p:nvSpPr>
        <p:spPr>
          <a:xfrm>
            <a:off x="5943600" y="1401097"/>
            <a:ext cx="561913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b="1" dirty="0"/>
              <a:t>Crows Foot se ha convertido en el estándar mas usado</a:t>
            </a:r>
            <a:r>
              <a:rPr lang="es-MX" sz="2000" dirty="0"/>
              <a:t>. Es raro que en proyectos nuevos especifiquemos Chen, a menos que sea un requerimiento específico del cliente.</a:t>
            </a:r>
          </a:p>
          <a:p>
            <a:endParaRPr lang="es-MX" sz="2000" dirty="0"/>
          </a:p>
          <a:p>
            <a:r>
              <a:rPr lang="es-MX" sz="2000" b="1" dirty="0"/>
              <a:t>¿Por qué?</a:t>
            </a:r>
            <a:endParaRPr lang="es-MX" sz="2000" dirty="0"/>
          </a:p>
          <a:p>
            <a:r>
              <a:rPr lang="es-MX" sz="2000" dirty="0"/>
              <a:t>Las herramientas (como ER/Studio, MySQL Workbench) lo soportan mejor</a:t>
            </a:r>
          </a:p>
          <a:p>
            <a:r>
              <a:rPr lang="es-MX" sz="2000" dirty="0"/>
              <a:t>Los equipos junior lo entienden más rápido</a:t>
            </a:r>
          </a:p>
          <a:p>
            <a:r>
              <a:rPr lang="es-MX" sz="2000" dirty="0"/>
              <a:t>Es más eficiente en sesiones de diseño colaborativo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20325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354" y="1051560"/>
            <a:ext cx="5493398" cy="531489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ES" dirty="0"/>
              <a:t>Instalar Worbench (</a:t>
            </a:r>
            <a:r>
              <a:rPr lang="es-CO" dirty="0">
                <a:hlinkClick r:id="rId2"/>
              </a:rPr>
              <a:t>https://youtu.be/TbrzqiOz5aM?si=3rmtbFfhEA_4sgqi</a:t>
            </a:r>
            <a:r>
              <a:rPr lang="es-CO" dirty="0"/>
              <a:t>). </a:t>
            </a:r>
            <a:r>
              <a:rPr lang="es-CO" dirty="0" err="1"/>
              <a:t>despues</a:t>
            </a:r>
            <a:r>
              <a:rPr lang="es-CO" dirty="0"/>
              <a:t> de instalar, abre la aplicación.</a:t>
            </a:r>
          </a:p>
          <a:p>
            <a:pPr marL="457200" indent="-457200">
              <a:buFontTx/>
              <a:buAutoNum type="arabicPeriod"/>
            </a:pPr>
            <a:r>
              <a:rPr lang="es-CO" dirty="0"/>
              <a:t>Configuración Inicial en </a:t>
            </a:r>
            <a:r>
              <a:rPr lang="es-CO" dirty="0" err="1"/>
              <a:t>Workbench</a:t>
            </a:r>
            <a:endParaRPr lang="es-CO" dirty="0"/>
          </a:p>
          <a:p>
            <a:r>
              <a:rPr lang="es-CO" dirty="0"/>
              <a:t>	- Para asegurar que uses </a:t>
            </a:r>
            <a:r>
              <a:rPr lang="es-CO" dirty="0" err="1"/>
              <a:t>Crows</a:t>
            </a:r>
            <a:r>
              <a:rPr lang="es-CO" dirty="0"/>
              <a:t> </a:t>
            </a:r>
            <a:r>
              <a:rPr lang="es-CO" dirty="0" err="1"/>
              <a:t>Foot</a:t>
            </a:r>
            <a:r>
              <a:rPr lang="es-CO" dirty="0"/>
              <a:t>:</a:t>
            </a:r>
          </a:p>
          <a:p>
            <a:r>
              <a:rPr lang="es-CO" dirty="0"/>
              <a:t>		file → New </a:t>
            </a:r>
            <a:r>
              <a:rPr lang="es-CO" dirty="0" err="1"/>
              <a:t>Model</a:t>
            </a:r>
            <a:endParaRPr lang="es-CO" dirty="0"/>
          </a:p>
          <a:p>
            <a:r>
              <a:rPr lang="es-CO" dirty="0"/>
              <a:t>		</a:t>
            </a:r>
            <a:r>
              <a:rPr lang="es-CO" dirty="0" err="1"/>
              <a:t>Model</a:t>
            </a:r>
            <a:r>
              <a:rPr lang="es-CO" dirty="0"/>
              <a:t> → </a:t>
            </a: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Diagram</a:t>
            </a:r>
            <a:r>
              <a:rPr lang="es-CO" dirty="0"/>
              <a:t> (se crea una pestaña)</a:t>
            </a:r>
          </a:p>
          <a:p>
            <a:r>
              <a:rPr lang="es-CO" dirty="0"/>
              <a:t>		Verificar que </a:t>
            </a:r>
            <a:r>
              <a:rPr lang="es-CO" dirty="0" err="1"/>
              <a:t>Notation</a:t>
            </a:r>
            <a:r>
              <a:rPr lang="es-CO" dirty="0"/>
              <a:t> esté en "</a:t>
            </a:r>
            <a:r>
              <a:rPr lang="es-CO" dirty="0" err="1"/>
              <a:t>Classic</a:t>
            </a:r>
            <a:r>
              <a:rPr lang="es-CO" dirty="0"/>
              <a:t>" (es </a:t>
            </a:r>
            <a:r>
              <a:rPr lang="es-CO" dirty="0" err="1"/>
              <a:t>Crows</a:t>
            </a:r>
            <a:r>
              <a:rPr lang="es-CO" dirty="0"/>
              <a:t> </a:t>
            </a:r>
            <a:r>
              <a:rPr lang="es-CO" dirty="0" err="1"/>
              <a:t>Foot</a:t>
            </a:r>
            <a:r>
              <a:rPr lang="es-CO" dirty="0"/>
              <a:t>)</a:t>
            </a:r>
          </a:p>
          <a:p>
            <a:r>
              <a:rPr lang="es-CO" dirty="0"/>
              <a:t>	- 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A1D30B-DCC6-4E02-819F-9774E607FF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4415" y="961964"/>
            <a:ext cx="2095644" cy="273140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E70FD80-C0F7-47A2-8B72-538F6B2A5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185" y="3979505"/>
            <a:ext cx="3491093" cy="2180897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0086679B-1CAE-47E1-B594-697622CEC7E4}"/>
              </a:ext>
            </a:extLst>
          </p:cNvPr>
          <p:cNvCxnSpPr>
            <a:endCxn id="7" idx="1"/>
          </p:cNvCxnSpPr>
          <p:nvPr/>
        </p:nvCxnSpPr>
        <p:spPr>
          <a:xfrm flipV="1">
            <a:off x="5122506" y="2341984"/>
            <a:ext cx="3461657" cy="951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DAD6AB6-51AD-4CF8-A0AF-BE2397D97D88}"/>
              </a:ext>
            </a:extLst>
          </p:cNvPr>
          <p:cNvCxnSpPr/>
          <p:nvPr/>
        </p:nvCxnSpPr>
        <p:spPr>
          <a:xfrm>
            <a:off x="5822302" y="3979505"/>
            <a:ext cx="2220686" cy="11896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4514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354" y="1051560"/>
            <a:ext cx="5493398" cy="5314894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ES" dirty="0"/>
              <a:t>Instalar Worbench (</a:t>
            </a:r>
            <a:r>
              <a:rPr lang="es-CO" dirty="0">
                <a:hlinkClick r:id="rId2"/>
              </a:rPr>
              <a:t>https://youtu.be/TbrzqiOz5aM?si=3rmtbFfhEA_4sgqi</a:t>
            </a:r>
            <a:r>
              <a:rPr lang="es-CO" dirty="0"/>
              <a:t>). </a:t>
            </a:r>
            <a:r>
              <a:rPr lang="es-CO" dirty="0" err="1"/>
              <a:t>despues</a:t>
            </a:r>
            <a:r>
              <a:rPr lang="es-CO" dirty="0"/>
              <a:t> de instalar, abre la aplicación.</a:t>
            </a:r>
          </a:p>
          <a:p>
            <a:pPr marL="457200" indent="-457200">
              <a:buFontTx/>
              <a:buAutoNum type="arabicPeriod"/>
            </a:pPr>
            <a:r>
              <a:rPr lang="es-CO" dirty="0"/>
              <a:t>Configuración Inicial en </a:t>
            </a:r>
            <a:r>
              <a:rPr lang="es-CO" dirty="0" err="1"/>
              <a:t>Workbench</a:t>
            </a:r>
            <a:endParaRPr lang="es-CO" dirty="0"/>
          </a:p>
          <a:p>
            <a:r>
              <a:rPr lang="es-CO" dirty="0"/>
              <a:t>	- Para asegurar que uses </a:t>
            </a:r>
            <a:r>
              <a:rPr lang="es-CO" dirty="0" err="1"/>
              <a:t>Crows</a:t>
            </a:r>
            <a:r>
              <a:rPr lang="es-CO" dirty="0"/>
              <a:t> </a:t>
            </a:r>
            <a:r>
              <a:rPr lang="es-CO" dirty="0" err="1"/>
              <a:t>Foot</a:t>
            </a:r>
            <a:r>
              <a:rPr lang="es-CO" dirty="0"/>
              <a:t>:</a:t>
            </a:r>
          </a:p>
          <a:p>
            <a:r>
              <a:rPr lang="es-CO" dirty="0"/>
              <a:t>		file → New </a:t>
            </a:r>
            <a:r>
              <a:rPr lang="es-CO" dirty="0" err="1"/>
              <a:t>Model</a:t>
            </a:r>
            <a:endParaRPr lang="es-CO" dirty="0"/>
          </a:p>
          <a:p>
            <a:r>
              <a:rPr lang="es-CO" dirty="0"/>
              <a:t>		</a:t>
            </a:r>
            <a:r>
              <a:rPr lang="es-CO" dirty="0" err="1"/>
              <a:t>Model</a:t>
            </a:r>
            <a:r>
              <a:rPr lang="es-CO" dirty="0"/>
              <a:t> → </a:t>
            </a:r>
            <a:r>
              <a:rPr lang="es-CO" dirty="0" err="1"/>
              <a:t>Add</a:t>
            </a:r>
            <a:r>
              <a:rPr lang="es-CO" dirty="0"/>
              <a:t> </a:t>
            </a:r>
            <a:r>
              <a:rPr lang="es-CO" dirty="0" err="1"/>
              <a:t>Diagram</a:t>
            </a:r>
            <a:r>
              <a:rPr lang="es-CO" dirty="0"/>
              <a:t> (se crea una pestaña)</a:t>
            </a:r>
          </a:p>
          <a:p>
            <a:r>
              <a:rPr lang="es-CO" dirty="0"/>
              <a:t>		Verificar que </a:t>
            </a:r>
            <a:r>
              <a:rPr lang="es-CO" dirty="0" err="1"/>
              <a:t>Notation</a:t>
            </a:r>
            <a:r>
              <a:rPr lang="es-CO" dirty="0"/>
              <a:t> esté en "</a:t>
            </a:r>
            <a:r>
              <a:rPr lang="es-CO" dirty="0" err="1"/>
              <a:t>Classic</a:t>
            </a:r>
            <a:r>
              <a:rPr lang="es-CO" dirty="0"/>
              <a:t>" (es </a:t>
            </a:r>
            <a:r>
              <a:rPr lang="es-CO" dirty="0" err="1"/>
              <a:t>Crows</a:t>
            </a:r>
            <a:r>
              <a:rPr lang="es-CO" dirty="0"/>
              <a:t> </a:t>
            </a:r>
            <a:r>
              <a:rPr lang="es-CO" dirty="0" err="1"/>
              <a:t>Foot</a:t>
            </a:r>
            <a:r>
              <a:rPr lang="es-CO" dirty="0"/>
              <a:t>)</a:t>
            </a:r>
          </a:p>
          <a:p>
            <a:r>
              <a:rPr lang="es-CO" dirty="0"/>
              <a:t>	- 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3B89AEA-A4FA-43DC-A059-0EF3664EC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442" y="1409093"/>
            <a:ext cx="5008019" cy="2572145"/>
          </a:xfrm>
          <a:prstGeom prst="rect">
            <a:avLst/>
          </a:prstGeom>
        </p:spPr>
      </p:pic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4161175C-6063-4CE7-A1C6-1BC9F2248319}"/>
              </a:ext>
            </a:extLst>
          </p:cNvPr>
          <p:cNvCxnSpPr/>
          <p:nvPr/>
        </p:nvCxnSpPr>
        <p:spPr>
          <a:xfrm flipV="1">
            <a:off x="4547120" y="3985903"/>
            <a:ext cx="2230016" cy="3452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992" y="4535253"/>
            <a:ext cx="428685" cy="1648055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0E2A290B-2952-4277-A9C5-6A1E5B1C93CB}"/>
              </a:ext>
            </a:extLst>
          </p:cNvPr>
          <p:cNvCxnSpPr>
            <a:cxnSpLocks/>
          </p:cNvCxnSpPr>
          <p:nvPr/>
        </p:nvCxnSpPr>
        <p:spPr>
          <a:xfrm flipV="1">
            <a:off x="5924939" y="5297476"/>
            <a:ext cx="945503" cy="1236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4824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 fontScale="85000" lnSpcReduction="20000"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endParaRPr lang="es-ES" sz="2000" dirty="0">
              <a:solidFill>
                <a:schemeClr val="tx2"/>
              </a:solidFill>
            </a:endParaRP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Significa: "Uno a Uno MANDATORIO" (1:1 obligatorio)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Traducción a negocio: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Cada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r>
              <a:rPr lang="es-ES" sz="2000" dirty="0">
                <a:solidFill>
                  <a:schemeClr val="tx2"/>
                </a:solidFill>
              </a:rPr>
              <a:t> debe tener EXACTAMENTE UN registro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endParaRPr lang="es-ES" sz="2000" dirty="0">
              <a:solidFill>
                <a:schemeClr val="tx2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Cada registro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r>
              <a:rPr lang="es-ES" sz="2000" dirty="0">
                <a:solidFill>
                  <a:schemeClr val="tx2"/>
                </a:solidFill>
              </a:rPr>
              <a:t> debe tener EXACTAMENTE UN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endParaRPr lang="es-ES" sz="2000" dirty="0">
              <a:solidFill>
                <a:schemeClr val="tx2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Ambas direcciones son OBLIGATORIAS</a:t>
            </a:r>
          </a:p>
          <a:p>
            <a:pPr algn="l"/>
            <a:r>
              <a:rPr lang="es-ES" sz="2000" b="1" dirty="0">
                <a:solidFill>
                  <a:schemeClr val="tx2"/>
                </a:solidFill>
              </a:rPr>
              <a:t>Pro Tip de Diseño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Pregunta clave que siempre hago al equipo: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"¿Si elimino un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r>
              <a:rPr lang="es-ES" sz="2000" dirty="0">
                <a:solidFill>
                  <a:schemeClr val="tx2"/>
                </a:solidFill>
              </a:rPr>
              <a:t>, DEBO eliminar el correspondiente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r>
              <a:rPr lang="es-ES" sz="2000" dirty="0">
                <a:solidFill>
                  <a:schemeClr val="tx2"/>
                </a:solidFill>
              </a:rPr>
              <a:t>?"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Si la respuesta es SÍ en ambas direcciones</a:t>
            </a: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955"/>
          <a:stretch/>
        </p:blipFill>
        <p:spPr>
          <a:xfrm>
            <a:off x="1154738" y="1507247"/>
            <a:ext cx="428685" cy="363319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0C3CF4DA-061C-4667-A4EA-8A305766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339" y="1465039"/>
            <a:ext cx="3458058" cy="44773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</a:p>
          <a:p>
            <a:r>
              <a:rPr lang="es-ES" dirty="0"/>
              <a:t>Caso 1: Sistema de Nómina</a:t>
            </a:r>
          </a:p>
          <a:p>
            <a:r>
              <a:rPr lang="es-ES" sz="1400" dirty="0"/>
              <a:t>[EMPLEADO] ||----------------------|| [CONTRATO]</a:t>
            </a:r>
          </a:p>
          <a:p>
            <a:endParaRPr lang="es-ES" dirty="0"/>
          </a:p>
          <a:p>
            <a:r>
              <a:rPr lang="es-ES" dirty="0"/>
              <a:t>"Cada empleado tiene EXACTAMENTE un contrato activo y cada contrato pertenece a EXACTAMENTE un empleado“.</a:t>
            </a:r>
          </a:p>
          <a:p>
            <a:endParaRPr lang="es-ES" dirty="0"/>
          </a:p>
          <a:p>
            <a:r>
              <a:rPr lang="es-ES" dirty="0"/>
              <a:t>Caso 2: Sistema de Seguridad</a:t>
            </a:r>
          </a:p>
          <a:p>
            <a:endParaRPr lang="es-ES" dirty="0"/>
          </a:p>
          <a:p>
            <a:r>
              <a:rPr lang="es-ES" sz="1400" dirty="0"/>
              <a:t>[USUARIO] ||----------------------|| [CREDENCIALES]</a:t>
            </a:r>
          </a:p>
          <a:p>
            <a:endParaRPr lang="es-ES" dirty="0"/>
          </a:p>
          <a:p>
            <a:r>
              <a:rPr lang="es-ES" dirty="0"/>
              <a:t>"Cada usuario tiene EXACTAMENTE unas credenciales y cada credencial pertenece a EXACTAMENTE un usuario"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9895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 fontScale="85000" lnSpcReduction="20000"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endParaRPr lang="es-ES" sz="2000" dirty="0">
              <a:solidFill>
                <a:schemeClr val="tx2"/>
              </a:solidFill>
            </a:endParaRP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Significa: "Uno a Uno MANDATORIO" (1:1 obligatorio)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Traducción a negocio: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Cada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r>
              <a:rPr lang="es-ES" sz="2000" dirty="0">
                <a:solidFill>
                  <a:schemeClr val="tx2"/>
                </a:solidFill>
              </a:rPr>
              <a:t> debe tener EXACTAMENTE UN registro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endParaRPr lang="es-ES" sz="2000" dirty="0">
              <a:solidFill>
                <a:schemeClr val="tx2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Cada registro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r>
              <a:rPr lang="es-ES" sz="2000" dirty="0">
                <a:solidFill>
                  <a:schemeClr val="tx2"/>
                </a:solidFill>
              </a:rPr>
              <a:t> debe tener EXACTAMENTE UN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endParaRPr lang="es-ES" sz="2000" dirty="0">
              <a:solidFill>
                <a:schemeClr val="tx2"/>
              </a:solidFill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chemeClr val="tx2"/>
                </a:solidFill>
              </a:rPr>
              <a:t>Ambas direcciones son OBLIGATORIAS</a:t>
            </a:r>
          </a:p>
          <a:p>
            <a:pPr algn="l"/>
            <a:r>
              <a:rPr lang="es-ES" sz="2000" b="1" dirty="0">
                <a:solidFill>
                  <a:schemeClr val="tx2"/>
                </a:solidFill>
              </a:rPr>
              <a:t>Pro Tip de Diseño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Pregunta clave que siempre hago al equipo: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"¿Si elimino un registro en </a:t>
            </a:r>
            <a:r>
              <a:rPr lang="es-ES" sz="2000" dirty="0" err="1">
                <a:solidFill>
                  <a:schemeClr val="tx2"/>
                </a:solidFill>
              </a:rPr>
              <a:t>TablaA</a:t>
            </a:r>
            <a:r>
              <a:rPr lang="es-ES" sz="2000" dirty="0">
                <a:solidFill>
                  <a:schemeClr val="tx2"/>
                </a:solidFill>
              </a:rPr>
              <a:t>, DEBO eliminar el correspondiente en </a:t>
            </a:r>
            <a:r>
              <a:rPr lang="es-ES" sz="2000" dirty="0" err="1">
                <a:solidFill>
                  <a:schemeClr val="tx2"/>
                </a:solidFill>
              </a:rPr>
              <a:t>TablaB</a:t>
            </a:r>
            <a:r>
              <a:rPr lang="es-ES" sz="2000" dirty="0">
                <a:solidFill>
                  <a:schemeClr val="tx2"/>
                </a:solidFill>
              </a:rPr>
              <a:t>?"</a:t>
            </a:r>
          </a:p>
          <a:p>
            <a:pPr algn="l"/>
            <a:r>
              <a:rPr lang="es-ES" sz="2000" dirty="0">
                <a:solidFill>
                  <a:schemeClr val="tx2"/>
                </a:solidFill>
              </a:rPr>
              <a:t>Si la respuesta es SÍ en ambas direcciones</a:t>
            </a: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7955"/>
          <a:stretch/>
        </p:blipFill>
        <p:spPr>
          <a:xfrm>
            <a:off x="1154738" y="1507247"/>
            <a:ext cx="428685" cy="363319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>
            <a:extLst>
              <a:ext uri="{FF2B5EF4-FFF2-40B4-BE49-F238E27FC236}">
                <a16:creationId xmlns:a16="http://schemas.microsoft.com/office/drawing/2014/main" id="{0C3CF4DA-061C-4667-A4EA-8A305766F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7339" y="1465039"/>
            <a:ext cx="3458058" cy="44773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</a:p>
          <a:p>
            <a:r>
              <a:rPr lang="es-ES" dirty="0"/>
              <a:t>Caso 1: Sistema de Nómina</a:t>
            </a:r>
          </a:p>
          <a:p>
            <a:r>
              <a:rPr lang="es-ES" sz="1400" dirty="0"/>
              <a:t>[EMPLEADO] ||----------------------|| [CONTRATO]</a:t>
            </a:r>
          </a:p>
          <a:p>
            <a:endParaRPr lang="es-ES" dirty="0"/>
          </a:p>
          <a:p>
            <a:r>
              <a:rPr lang="es-ES" dirty="0"/>
              <a:t>"Cada empleado tiene EXACTAMENTE un contrato activo y cada contrato pertenece a EXACTAMENTE un empleado“.</a:t>
            </a:r>
          </a:p>
          <a:p>
            <a:endParaRPr lang="es-ES" dirty="0"/>
          </a:p>
          <a:p>
            <a:r>
              <a:rPr lang="es-ES" dirty="0"/>
              <a:t>Caso 2: Sistema de Seguridad</a:t>
            </a:r>
          </a:p>
          <a:p>
            <a:endParaRPr lang="es-ES" dirty="0"/>
          </a:p>
          <a:p>
            <a:r>
              <a:rPr lang="es-ES" sz="1400" dirty="0"/>
              <a:t>[USUARIO] ||----------------------|| [CREDENCIALES]</a:t>
            </a:r>
          </a:p>
          <a:p>
            <a:endParaRPr lang="es-ES" dirty="0"/>
          </a:p>
          <a:p>
            <a:r>
              <a:rPr lang="es-ES" dirty="0"/>
              <a:t>"Cada usuario tiene EXACTAMENTE unas credenciales y cada credencial pertenece a EXACTAMENTE un usuario"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20005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DF14FE-FAA1-4D3F-A26F-C8FFE4B5E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748571-AEE7-4ADC-943B-CD49CD12D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576779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endParaRPr lang="es-ES" sz="2000" dirty="0">
              <a:solidFill>
                <a:schemeClr val="tx2"/>
              </a:solidFill>
            </a:endParaRP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72" t="39784" r="18373" b="44212"/>
          <a:stretch/>
        </p:blipFill>
        <p:spPr>
          <a:xfrm>
            <a:off x="1186894" y="1557022"/>
            <a:ext cx="333748" cy="263769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5C6A01-6675-4DD4-B12E-CE67D07CE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809" y="1468317"/>
            <a:ext cx="2573391" cy="3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42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BF5BA7-45A4-4C6E-AD62-F672A26BE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E2C39C-FD49-44D5-A9A7-F967FE48B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34384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endParaRPr lang="es-ES" sz="2000" dirty="0">
              <a:solidFill>
                <a:schemeClr val="tx2"/>
              </a:solidFill>
            </a:endParaRP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579" r="-3827" b="57015"/>
          <a:stretch/>
        </p:blipFill>
        <p:spPr>
          <a:xfrm>
            <a:off x="1170913" y="1504271"/>
            <a:ext cx="445093" cy="369271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7BACA93-6826-4339-9855-99909FDD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423085" y="1517432"/>
            <a:ext cx="3162741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738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34A4D-2CB8-4428-9B72-A431B2147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BEC7B0-B702-4415-A7CE-8B3EB3C0F4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808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endParaRPr lang="es-ES" sz="2000" dirty="0">
              <a:solidFill>
                <a:schemeClr val="tx2"/>
              </a:solidFill>
            </a:endParaRP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7" t="58409" r="-3827" b="20251"/>
          <a:stretch/>
        </p:blipFill>
        <p:spPr>
          <a:xfrm>
            <a:off x="1187321" y="1540987"/>
            <a:ext cx="428685" cy="351691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  <a:endParaRPr lang="es-CO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051A57-E08C-4FBE-857C-9FF819E2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413558" y="1540987"/>
            <a:ext cx="318179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861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45F9D-7129-4800-8B11-A228B64BB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Conclusion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4E064D-41E4-45A5-9ECE-0380B0A60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214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CCB1BC-07E8-472C-884F-AB2C22F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321" y="491546"/>
            <a:ext cx="10134600" cy="470418"/>
          </a:xfrm>
        </p:spPr>
        <p:txBody>
          <a:bodyPr>
            <a:normAutofit fontScale="90000"/>
          </a:bodyPr>
          <a:lstStyle/>
          <a:p>
            <a:r>
              <a:rPr lang="es-ES" dirty="0"/>
              <a:t>Taller Practico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CA64A1-61ED-439E-99A9-C389A828E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07" y="1051560"/>
            <a:ext cx="5493398" cy="5314894"/>
          </a:xfrm>
        </p:spPr>
        <p:txBody>
          <a:bodyPr>
            <a:normAutofit/>
          </a:bodyPr>
          <a:lstStyle/>
          <a:p>
            <a:r>
              <a:rPr lang="es-CO" dirty="0"/>
              <a:t>Símbolos que Verás y su Significado</a:t>
            </a:r>
          </a:p>
          <a:p>
            <a:pPr marL="457200" indent="-457200">
              <a:buAutoNum type="arabicPeriod"/>
            </a:pPr>
            <a:endParaRPr lang="es-CO" dirty="0"/>
          </a:p>
          <a:p>
            <a:pPr algn="l"/>
            <a:r>
              <a:rPr lang="es-ES" dirty="0"/>
              <a:t>Cuando escoges esta relación, Worbench automáticamente crea la tabla intermedia. Y la relación queda 1 a muchos (el símbolo de muchos, queda apuntando a la tabla intermedia), desde ambas tablas principales.</a:t>
            </a:r>
            <a:endParaRPr lang="es-ES" sz="2000" dirty="0">
              <a:solidFill>
                <a:schemeClr val="tx2"/>
              </a:solidFill>
            </a:endParaRPr>
          </a:p>
          <a:p>
            <a:endParaRPr lang="es-CO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661D65C1-8001-49F1-87E5-4FB64EFE96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7" t="77205" r="-3827" b="5454"/>
          <a:stretch/>
        </p:blipFill>
        <p:spPr>
          <a:xfrm>
            <a:off x="1139425" y="1540985"/>
            <a:ext cx="428685" cy="285793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DF5DDA12-D265-4C97-9D43-6BE456011DD2}"/>
              </a:ext>
            </a:extLst>
          </p:cNvPr>
          <p:cNvCxnSpPr/>
          <p:nvPr/>
        </p:nvCxnSpPr>
        <p:spPr>
          <a:xfrm>
            <a:off x="1616006" y="1716833"/>
            <a:ext cx="6513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2786878-DC7A-4B4B-B8EB-39AFD31E6176}"/>
              </a:ext>
            </a:extLst>
          </p:cNvPr>
          <p:cNvSpPr txBox="1"/>
          <p:nvPr/>
        </p:nvSpPr>
        <p:spPr>
          <a:xfrm>
            <a:off x="6917382" y="1366897"/>
            <a:ext cx="4656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Ejemplos</a:t>
            </a:r>
            <a:endParaRPr lang="es-CO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051A57-E08C-4FBE-857C-9FF819E2B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413558" y="1540987"/>
            <a:ext cx="318179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603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02769F-4A3D-43EB-A022-5DED0B26A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Conclusión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AD8BB4-7FB0-4FFF-A1CB-EFE6DC9475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888359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5ABBED-4477-4EFA-AC9E-8142220B0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Referencia bibliográficas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A007620-8BF9-44BB-BBB9-C98E9BD7C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CO" dirty="0">
                <a:hlinkClick r:id="rId2"/>
              </a:rPr>
              <a:t>https://www.lemoncode.tv/curso/draw-io-diagramas-base-de-datos/leccion/chen</a:t>
            </a:r>
            <a:endParaRPr lang="es-CO" dirty="0"/>
          </a:p>
          <a:p>
            <a:r>
              <a:rPr lang="es-CO" dirty="0">
                <a:hlinkClick r:id="rId3"/>
              </a:rPr>
              <a:t>https://www.graficamazzini.com.ar/notacion-grafica-del-modelo-entidad-relacion/</a:t>
            </a:r>
            <a:endParaRPr lang="es-CO" dirty="0"/>
          </a:p>
          <a:p>
            <a:r>
              <a:rPr lang="es-CO" dirty="0">
                <a:hlinkClick r:id="rId4"/>
              </a:rPr>
              <a:t>https://support.microsoft.com/es-es/topic/crear-un-diagrama-con-notaci%C3%B3n-de-base-de-datos-de-pata-de-gallo-1ec22af9-3bd3-4354-b2b5-ed5752af6769</a:t>
            </a:r>
            <a:endParaRPr lang="es-CO" dirty="0"/>
          </a:p>
          <a:p>
            <a:r>
              <a:rPr lang="es-CO" dirty="0">
                <a:hlinkClick r:id="rId5"/>
              </a:rPr>
              <a:t>https://www.mymap.ai/es/template/erd-crows-foot</a:t>
            </a:r>
            <a:endParaRPr lang="es-CO" dirty="0"/>
          </a:p>
          <a:p>
            <a:r>
              <a:rPr lang="es-CO" dirty="0">
                <a:hlinkClick r:id="rId6"/>
              </a:rPr>
              <a:t>https://jorgesanchez.net/manuales/gbd/diseno-logico-relacional.html#google_vignette</a:t>
            </a:r>
            <a:endParaRPr lang="es-CO" dirty="0"/>
          </a:p>
          <a:p>
            <a:r>
              <a:rPr lang="es-CO" dirty="0">
                <a:hlinkClick r:id="rId7"/>
              </a:rPr>
              <a:t>https://1library.co/article/introducci%C3%B3n-a-los-diagramas-de-entidad-relaci%C3%B3n.zlvdgd6y</a:t>
            </a:r>
            <a:r>
              <a:rPr lang="es-CO" dirty="0"/>
              <a:t> revisar este link</a:t>
            </a:r>
          </a:p>
          <a:p>
            <a:r>
              <a:rPr lang="es-CO" dirty="0">
                <a:hlinkClick r:id="rId8"/>
              </a:rPr>
              <a:t>https://www.toolify.ai/es/ai-news-es/explicacin-de-la-cardinalidad-de-bases-de-datos-en-12-minutos-2407368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758853484"/>
      </p:ext>
    </p:extLst>
  </p:cSld>
  <p:clrMapOvr>
    <a:masterClrMapping/>
  </p:clrMapOvr>
</p:sld>
</file>

<file path=ppt/theme/theme1.xml><?xml version="1.0" encoding="utf-8"?>
<a:theme xmlns:a="http://schemas.openxmlformats.org/drawingml/2006/main" name="AdornVTI">
  <a:themeElements>
    <a:clrScheme name="GC1">
      <a:dk1>
        <a:sysClr val="windowText" lastClr="000000"/>
      </a:dk1>
      <a:lt1>
        <a:sysClr val="window" lastClr="FFFFFF"/>
      </a:lt1>
      <a:dk2>
        <a:srgbClr val="2C2830"/>
      </a:dk2>
      <a:lt2>
        <a:srgbClr val="E0DCE1"/>
      </a:lt2>
      <a:accent1>
        <a:srgbClr val="908193"/>
      </a:accent1>
      <a:accent2>
        <a:srgbClr val="A08889"/>
      </a:accent2>
      <a:accent3>
        <a:srgbClr val="B48C7E"/>
      </a:accent3>
      <a:accent4>
        <a:srgbClr val="809C9B"/>
      </a:accent4>
      <a:accent5>
        <a:srgbClr val="899F91"/>
      </a:accent5>
      <a:accent6>
        <a:srgbClr val="728274"/>
      </a:accent6>
      <a:hlink>
        <a:srgbClr val="837585"/>
      </a:hlink>
      <a:folHlink>
        <a:srgbClr val="677E83"/>
      </a:folHlink>
    </a:clrScheme>
    <a:fontScheme name="Bembo">
      <a:majorFont>
        <a:latin typeface="Bembo"/>
        <a:ea typeface=""/>
        <a:cs typeface=""/>
      </a:majorFont>
      <a:minorFont>
        <a:latin typeface="Bemb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dornVTI" id="{497E3FA9-5A27-4D12-9D04-917BEF3D1303}" vid="{34192A01-61CA-4566-9818-841C607496F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</TotalTime>
  <Words>2116</Words>
  <Application>Microsoft Office PowerPoint</Application>
  <PresentationFormat>Panorámica</PresentationFormat>
  <Paragraphs>325</Paragraphs>
  <Slides>32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35" baseType="lpstr">
      <vt:lpstr>Arial</vt:lpstr>
      <vt:lpstr>Bembo</vt:lpstr>
      <vt:lpstr>AdornVTI</vt:lpstr>
      <vt:lpstr>Modelo Entidad-Relación </vt:lpstr>
      <vt:lpstr>Definicion</vt:lpstr>
      <vt:lpstr>Componentes del MER</vt:lpstr>
      <vt:lpstr>Componentes del MER</vt:lpstr>
      <vt:lpstr>REGLAS DE ASOCIACIONES - CARDINALIDAD</vt:lpstr>
      <vt:lpstr>REGLAS DE ASOCIACIONES – CARDINALIDAD</vt:lpstr>
      <vt:lpstr>REGLAS DE ASOCIACIONES - CARDINALIDAD</vt:lpstr>
      <vt:lpstr>REGLAS DE ASOCIACIONES - CARDINALIDAD</vt:lpstr>
      <vt:lpstr>CASO DE ESTUDIO: SISTEMA DE HOTEL</vt:lpstr>
      <vt:lpstr>CASO DE ESTUDIO: SISTEMA DE HOTEL</vt:lpstr>
      <vt:lpstr>CASO DE ESTUDIO: SISTEMA DE HOTEL</vt:lpstr>
      <vt:lpstr>CASO DE ESTUDIO: SISTEMA DE HOTEL</vt:lpstr>
      <vt:lpstr>CASO DE ESTUDIO: SISTEMA DE HOTEL</vt:lpstr>
      <vt:lpstr>CASO DE ESTUDIO: SISTEMA DE HOTEL</vt:lpstr>
      <vt:lpstr>Notación Chen vs. Crows Foot</vt:lpstr>
      <vt:lpstr>Notación Chen vs. Crows Foot</vt:lpstr>
      <vt:lpstr>Notación Chen vs. Crows Foot</vt:lpstr>
      <vt:lpstr>Conclusión</vt:lpstr>
      <vt:lpstr>Taller Practico</vt:lpstr>
      <vt:lpstr>Taller Practico</vt:lpstr>
      <vt:lpstr>Taller Practico</vt:lpstr>
      <vt:lpstr>Taller Practico</vt:lpstr>
      <vt:lpstr>conclusión</vt:lpstr>
      <vt:lpstr>Taller Practico</vt:lpstr>
      <vt:lpstr>conclusion</vt:lpstr>
      <vt:lpstr>Taller Practico</vt:lpstr>
      <vt:lpstr>Conclusion</vt:lpstr>
      <vt:lpstr>Taller Practico</vt:lpstr>
      <vt:lpstr>Conclusion</vt:lpstr>
      <vt:lpstr>Taller Practico</vt:lpstr>
      <vt:lpstr>Conclusión</vt:lpstr>
      <vt:lpstr>Referencia bibliográficas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Entidad-Relación</dc:title>
  <dc:creator>SENA</dc:creator>
  <cp:lastModifiedBy>SENA</cp:lastModifiedBy>
  <cp:revision>31</cp:revision>
  <dcterms:created xsi:type="dcterms:W3CDTF">2025-11-18T17:48:48Z</dcterms:created>
  <dcterms:modified xsi:type="dcterms:W3CDTF">2025-11-25T20:51:27Z</dcterms:modified>
</cp:coreProperties>
</file>